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5" r:id="rId5"/>
    <p:sldId id="258" r:id="rId6"/>
    <p:sldId id="274" r:id="rId7"/>
    <p:sldId id="259" r:id="rId8"/>
    <p:sldId id="270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3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96DC-E22B-5F7C-CDA5-782D2924E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F782F-AE39-2BDA-E527-27CC08C16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1C5EA-F973-2763-BE8C-83CE82237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F3B1C-08D5-9531-336E-EDEE2C5EE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5D104-A84A-2338-1C84-0734D589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6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5EAF0-3363-8FEE-F13B-09EEFDDB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5661D-04C2-D773-2217-1D24391E7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9AD2A-5C61-0013-B50C-2337D149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34C26-AE9E-29FE-A253-C67DAE7B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E0FF2-CE51-17F8-A784-6BD983B5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1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99CC-248A-63BD-A188-7314C8A2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F1969-7B40-F938-924B-606E20FB6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DECA0-232A-ECBA-8E56-78E4D1C2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B6480-22D5-D0A8-CE76-A7611DC5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69CDD-85ED-02CA-AFA2-FA60DA18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E5FF-BE0A-2BDB-E3A2-938CA809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28665-0CC7-3E27-3F9C-DC0AABB68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F2075-78C9-6E8F-F9BB-F0E789782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6D699-6362-15B5-8D73-67F7781B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3CEC4-04A4-C7C4-CE90-6F36067E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0A432-1BBB-13C2-AFCA-008BE95A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4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B04C9-8546-A9F4-A061-E8F1D7C91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B6AE4-1FD5-8BB7-3262-BC88DB3A2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96ED7-A76A-6764-BB5B-33E58F0E3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04282-B471-B67F-1022-330592FAE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4E74E-81F8-4910-2526-AB1F176D2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BB6EEE-5435-B272-69ED-E35F89B7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FC595-5F21-7CBD-089F-940D953F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90CB8F-69F9-BC2E-5230-28658C79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6D58-F0ED-2490-AC23-D5170B291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265DD-D3A2-DFB9-C5ED-36C161F37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131EF-637A-3045-EB0E-4BC86A3D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92734-59FC-9F70-99BD-F8956BAE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1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5EA9C-2A3F-F879-9BF1-D36AF5C7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D4826-FFF5-6E22-4627-D3CEAB7B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E5274-6B01-B0D9-9185-B80D9D24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6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5ABF-5F62-DA5F-2DD9-FDFAA50B6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A5CDA-F5E6-8941-9A0B-6BA78147E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C1267-6C4D-57B7-8AB9-882C07B15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4A5FC-5F19-EE46-6C89-FB18F055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5132C-8EDF-88C8-436C-2B6F4376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AD666-08B3-0831-A893-796028CA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3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1AC0-F089-E90B-F5A2-D9B04079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9B0AC-EC17-1D13-7E28-1BD588762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A952F-25FC-0710-FED4-2022D0EC5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763EF-34D2-7A73-D392-500CEFE9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0410C-E002-40B6-F37B-0A9446D8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5EB9A-2749-F845-010D-39FE49CB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87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9AED-F81C-CAEC-5DF0-BCE67531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5B51B-F6F6-7144-40D3-B5A6D90AD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D16D6-310C-8248-3755-20EF869EB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A5C3E-A92B-5C53-9511-6CD975DA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A3967-5C1E-2C46-5074-29AEF5DE1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7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DA6A2-F418-6A08-B0F1-A3FCFE2BF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8DC4F-E508-08AB-21C1-ADE01E2DF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EA1B3-63BA-A9A0-92C2-97151576D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41D84-7601-DA35-1B13-D531C81B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0EA6C-0716-9828-6BF8-0207AFCA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0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4864B3-D25C-7DE0-6ECC-D0CFDFE31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6A617-B06B-4A07-F243-592CAFA11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75B43-B857-FD0D-B7CD-B53143F0A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F13E2-C572-4391-83C5-85B7E42140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AE3F4-6026-2811-3FA3-249E402B8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2D144-7E3E-8650-2C27-8EB24145E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E6938-5C03-4E9C-A03A-95DD2E94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7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tsaritsyn/parking-space-ai/tree/stage_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9D38F-74A7-B27F-BB51-9F8A2F05C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599" y="586856"/>
            <a:ext cx="4037835" cy="33586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AI-Parking-Assistant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C8547-64EC-8A60-2E93-F99302535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9001" y="668867"/>
            <a:ext cx="6666606" cy="552666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Developer: Pavlo Tsaritsyn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Project</a:t>
            </a:r>
            <a:r>
              <a:rPr lang="en-US" sz="1600"/>
              <a:t>: </a:t>
            </a:r>
            <a:r>
              <a:rPr lang="en-US" sz="1600">
                <a:hlinkClick r:id="rId2"/>
              </a:rPr>
              <a:t>https://github.com/ptsaritsyn/parking-space-ai/tree/stage_4</a:t>
            </a:r>
            <a:endParaRPr lang="en-US" sz="16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Tools: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Language: Python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Frameworks: </a:t>
            </a:r>
            <a:r>
              <a:rPr lang="en-US" sz="1600" dirty="0" err="1"/>
              <a:t>LangChain</a:t>
            </a:r>
            <a:r>
              <a:rPr lang="en-US" sz="1600" dirty="0"/>
              <a:t>, </a:t>
            </a:r>
            <a:r>
              <a:rPr lang="en-US" sz="1600" dirty="0" err="1"/>
              <a:t>LangGraph</a:t>
            </a:r>
            <a:endParaRPr lang="en-US" sz="1600" dirty="0"/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Vector DB: Pinecone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SQL DB: SQLite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GUI: </a:t>
            </a:r>
            <a:r>
              <a:rPr lang="en-US" sz="1600" dirty="0" err="1"/>
              <a:t>Streamlit</a:t>
            </a:r>
            <a:endParaRPr lang="en-US" sz="1600" dirty="0"/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Cache: </a:t>
            </a:r>
            <a:r>
              <a:rPr lang="en-US" sz="1600" dirty="0" err="1"/>
              <a:t>LRUCache</a:t>
            </a:r>
            <a:endParaRPr lang="en-US" sz="1600" dirty="0"/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Tests: </a:t>
            </a:r>
            <a:r>
              <a:rPr lang="en-US" sz="1600" dirty="0" err="1"/>
              <a:t>Pytest</a:t>
            </a:r>
            <a:r>
              <a:rPr lang="en-US" sz="1600" dirty="0"/>
              <a:t>, </a:t>
            </a:r>
            <a:r>
              <a:rPr lang="en-US" sz="1600" dirty="0" err="1"/>
              <a:t>Unittest</a:t>
            </a:r>
            <a:endParaRPr lang="en-US" sz="1600" dirty="0"/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CI: </a:t>
            </a:r>
            <a:r>
              <a:rPr lang="en-US" sz="1600" dirty="0" err="1"/>
              <a:t>Github</a:t>
            </a:r>
            <a:r>
              <a:rPr lang="en-US" sz="1600" dirty="0"/>
              <a:t> Actions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Functionality: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Agent capabilities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RAG interaction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Caching repeatable requests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Simple Guard rails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Human in the loop confirmation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MCP client/server integration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Automation tests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7382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AC8CA-36DF-0A5F-99C0-A3B633928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Structure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961553-C2D4-C417-855D-CA8B8F0B5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338301"/>
            <a:ext cx="7225748" cy="418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2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37411D-60C1-F9AD-AE4F-24614998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Classes architecture example</a:t>
            </a:r>
            <a:br>
              <a:rPr lang="en-US" sz="2500" dirty="0">
                <a:solidFill>
                  <a:srgbClr val="FFFFFF"/>
                </a:solidFill>
              </a:rPr>
            </a:br>
            <a:endParaRPr lang="en-US" sz="2500" dirty="0">
              <a:solidFill>
                <a:srgbClr val="FFFFFF"/>
              </a:solidFill>
            </a:endParaRP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0A12A5C1-5665-7E19-DA49-1528B6C6E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17" y="1864217"/>
            <a:ext cx="4656083" cy="18923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996E05-B329-7FD8-0657-739753F16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499" y="1756942"/>
            <a:ext cx="6287822" cy="43767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6C77D-0727-8EDB-E6DC-4C8967FDF1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499" y="6310979"/>
            <a:ext cx="3939691" cy="547021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1334F8E4-D566-6418-5A16-355D0728C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17" y="4604654"/>
            <a:ext cx="3306295" cy="18456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Advantage:</a:t>
            </a:r>
          </a:p>
          <a:p>
            <a:pPr lvl="1"/>
            <a:r>
              <a:rPr lang="en-US" sz="1600" dirty="0"/>
              <a:t>General logic handling.</a:t>
            </a:r>
          </a:p>
          <a:p>
            <a:pPr lvl="1"/>
            <a:r>
              <a:rPr lang="en-US" sz="1600" dirty="0"/>
              <a:t>Error handling.</a:t>
            </a:r>
          </a:p>
          <a:p>
            <a:pPr lvl="1"/>
            <a:r>
              <a:rPr lang="en-US" sz="1600" dirty="0"/>
              <a:t>Each Base class has own polymorph interface methods set.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37767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E1B11-15AE-45F6-E11B-349E60C92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03C2F57-A156-D58B-D011-993652EB8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04365D-0707-A8A1-BC40-135DA9D29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4391C7-01A9-2C8C-5C2D-7AA7145FF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9384A15-72C7-729C-7A62-F20AA1C58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CDD0CB6-68E7-4E0E-8523-D16E0B048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DD4E6F-46DD-231D-CFDF-0502DB61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Simple guard rails example before final response</a:t>
            </a:r>
            <a:br>
              <a:rPr lang="en-US" sz="2500" dirty="0">
                <a:solidFill>
                  <a:srgbClr val="FFFFFF"/>
                </a:solidFill>
              </a:rPr>
            </a:br>
            <a:endParaRPr lang="en-US" sz="2500" dirty="0">
              <a:solidFill>
                <a:srgbClr val="FFFFFF"/>
              </a:solidFill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56ACEC-F67D-7232-C0CC-DB27478BF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528" y="3047027"/>
            <a:ext cx="8122204" cy="1260813"/>
          </a:xfrm>
        </p:spPr>
      </p:pic>
    </p:spTree>
    <p:extLst>
      <p:ext uri="{BB962C8B-B14F-4D97-AF65-F5344CB8AC3E}">
        <p14:creationId xmlns:p14="http://schemas.microsoft.com/office/powerpoint/2010/main" val="2280112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629FF-4396-69F0-4B91-FDB557CE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Vector DB static data</a:t>
            </a:r>
          </a:p>
        </p:txBody>
      </p:sp>
      <p:pic>
        <p:nvPicPr>
          <p:cNvPr id="9" name="Content Placeholder 8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A188F8D1-8566-4B4F-9DD1-AE87CA3E4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450763"/>
            <a:ext cx="11327549" cy="348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4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65B2B-BBD0-B2B5-08D8-771C163C5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Static data in Pinecone DB</a:t>
            </a:r>
          </a:p>
        </p:txBody>
      </p:sp>
      <p:pic>
        <p:nvPicPr>
          <p:cNvPr id="5" name="Content Placeholder 4" descr="A screenshot of a chat&#10;&#10;AI-generated content may be incorrect.">
            <a:extLst>
              <a:ext uri="{FF2B5EF4-FFF2-40B4-BE49-F238E27FC236}">
                <a16:creationId xmlns:a16="http://schemas.microsoft.com/office/drawing/2014/main" id="{EA73363C-EF47-4B3B-511C-0EBE4545C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630" y="1966293"/>
            <a:ext cx="824473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1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E5D7-BF96-6DAC-70D4-C084509D5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DB Dynamic data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1B72B70E-07FE-E4DB-BF13-297D6B873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318" y="467208"/>
            <a:ext cx="6907968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76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4C84E-525F-8D84-DAF6-CBA09D6D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Orchestration workflow 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8A9902-5530-A2CD-D028-0E61DCA85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594" y="467208"/>
            <a:ext cx="7115415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7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9C03E-4D64-623C-C3B0-5C42F0819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General Conversation example</a:t>
            </a:r>
          </a:p>
        </p:txBody>
      </p:sp>
      <p:pic>
        <p:nvPicPr>
          <p:cNvPr id="7" name="Content Placeholder 6" descr="A screenshot of a chat&#10;&#10;AI-generated content may be incorrect.">
            <a:extLst>
              <a:ext uri="{FF2B5EF4-FFF2-40B4-BE49-F238E27FC236}">
                <a16:creationId xmlns:a16="http://schemas.microsoft.com/office/drawing/2014/main" id="{9455E2E0-A967-D5C4-7B28-60449C4E4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679" y="203277"/>
            <a:ext cx="7032078" cy="6492163"/>
          </a:xfrm>
        </p:spPr>
      </p:pic>
    </p:spTree>
    <p:extLst>
      <p:ext uri="{BB962C8B-B14F-4D97-AF65-F5344CB8AC3E}">
        <p14:creationId xmlns:p14="http://schemas.microsoft.com/office/powerpoint/2010/main" val="186032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DEBB4-23C8-0AFB-0FF5-39FBB84A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P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arking not related questions example</a:t>
            </a:r>
          </a:p>
        </p:txBody>
      </p:sp>
      <p:pic>
        <p:nvPicPr>
          <p:cNvPr id="5" name="Content Placeholder 4" descr="A screenshot of a chat&#10;&#10;AI-generated content may be incorrect.">
            <a:extLst>
              <a:ext uri="{FF2B5EF4-FFF2-40B4-BE49-F238E27FC236}">
                <a16:creationId xmlns:a16="http://schemas.microsoft.com/office/drawing/2014/main" id="{E5AE58D4-721D-4483-8217-53A4E708E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341" y="467208"/>
            <a:ext cx="6867922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1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86008-59F1-D433-9F2C-5E8EEE0A5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 confirmation request - start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DE09FB1-4F17-D42A-08F2-5947DC3D4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309168"/>
            <a:ext cx="11327549" cy="376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79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18D9E-1753-DC5D-2D04-0B9359E5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 received request </a:t>
            </a:r>
            <a:r>
              <a:rPr lang="en-US" sz="3600" dirty="0">
                <a:solidFill>
                  <a:srgbClr val="FFFFFF"/>
                </a:solidFill>
              </a:rPr>
              <a:t>-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refused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FF6A7F-CBF9-5165-ECA0-686FA52480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3272009"/>
            <a:ext cx="11327549" cy="184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1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A7BF4-A46B-64EA-698C-F1A666065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91596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 confirmation - refused request 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52FC73-8437-C260-2CAD-860B8A728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068458"/>
            <a:ext cx="11327549" cy="424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622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18719-70EF-2E2A-714C-480E419D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 received request </a:t>
            </a:r>
            <a:r>
              <a:rPr lang="en-US" sz="3600" dirty="0">
                <a:solidFill>
                  <a:srgbClr val="FFFFFF"/>
                </a:solidFill>
              </a:rPr>
              <a:t>-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confirm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F8D7AE-FBC3-2FC8-A62D-523AFD283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3257849"/>
            <a:ext cx="11327549" cy="186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127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AE6BB2-8457-62B7-381D-D1519B2C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903356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 confirmation - confirmed request 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808FE-2F36-0D20-BBE5-E6C208B56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53" y="1966293"/>
            <a:ext cx="1127129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06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59D8B-FBC4-7EBD-B255-FE7A4A3B5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0" y="2862471"/>
            <a:ext cx="30418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Saved data into SQL DB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E947DB-AAC7-3CCE-0D3F-824FF4199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598" y="478713"/>
            <a:ext cx="3281019" cy="26951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9C3A91-3343-0ED6-8D81-4550DA85F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251" y="541535"/>
            <a:ext cx="3419533" cy="165847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822C6B-AEBA-7DDA-F30C-D94F358DE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116" y="3429000"/>
            <a:ext cx="6732271" cy="288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15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013C4-22C7-EF2B-D0A9-3256BF14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90640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Save reservation data</a:t>
            </a:r>
            <a:r>
              <a:rPr lang="en-US" sz="3600" dirty="0">
                <a:solidFill>
                  <a:srgbClr val="FFFFFF"/>
                </a:solidFill>
              </a:rPr>
              <a:t> via MCP server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into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D28ADC-01BD-CF21-2D8F-9D60995E3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3272009"/>
            <a:ext cx="11327549" cy="184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58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9F471-FA9F-6CB2-A998-C8F513FA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56796-998E-419E-55AD-E2846A0B3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52134"/>
            <a:ext cx="9724031" cy="3945466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Move to asynchronous calls.</a:t>
            </a:r>
          </a:p>
          <a:p>
            <a:r>
              <a:rPr lang="en-US" sz="2000" dirty="0"/>
              <a:t>Add streaming.</a:t>
            </a:r>
          </a:p>
          <a:p>
            <a:r>
              <a:rPr lang="en-US" sz="2000" dirty="0"/>
              <a:t>Move to production DB(PostgreSQL etc.).</a:t>
            </a:r>
          </a:p>
          <a:p>
            <a:r>
              <a:rPr lang="en-US" sz="2000" dirty="0"/>
              <a:t>Add monitoring(</a:t>
            </a:r>
            <a:r>
              <a:rPr lang="en-US" sz="2000" dirty="0" err="1"/>
              <a:t>LangSmith</a:t>
            </a:r>
            <a:r>
              <a:rPr lang="en-US" sz="2000" dirty="0"/>
              <a:t> etc.).</a:t>
            </a:r>
          </a:p>
          <a:p>
            <a:r>
              <a:rPr lang="en-US" sz="2000" dirty="0"/>
              <a:t>Add logging.</a:t>
            </a:r>
          </a:p>
          <a:p>
            <a:r>
              <a:rPr lang="en-US" sz="2000" dirty="0"/>
              <a:t>Performance optimization.</a:t>
            </a:r>
          </a:p>
          <a:p>
            <a:r>
              <a:rPr lang="en-US" sz="2000" dirty="0"/>
              <a:t>Prompt optimization.</a:t>
            </a:r>
          </a:p>
          <a:p>
            <a:r>
              <a:rPr lang="en-US" sz="2000" dirty="0"/>
              <a:t>RAG optimization.</a:t>
            </a:r>
          </a:p>
          <a:p>
            <a:r>
              <a:rPr lang="en-US" sz="2000" dirty="0"/>
              <a:t>LLM interaction &amp; Tool calling optimization.</a:t>
            </a:r>
            <a:endParaRPr lang="uk-UA" sz="2000" dirty="0"/>
          </a:p>
          <a:p>
            <a:r>
              <a:rPr lang="en-US" sz="2000" dirty="0"/>
              <a:t>Deploy to cloud.</a:t>
            </a:r>
          </a:p>
        </p:txBody>
      </p:sp>
    </p:spTree>
    <p:extLst>
      <p:ext uri="{BB962C8B-B14F-4D97-AF65-F5344CB8AC3E}">
        <p14:creationId xmlns:p14="http://schemas.microsoft.com/office/powerpoint/2010/main" val="2767420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084D0D-EA7A-863C-08E9-916C3AC4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592" y="215173"/>
            <a:ext cx="8133055" cy="325517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for your attention!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3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229</Words>
  <Application>Microsoft Office PowerPoint</Application>
  <PresentationFormat>Widescreen</PresentationFormat>
  <Paragraphs>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AI-Parking-Assistant</vt:lpstr>
      <vt:lpstr>Project Structure</vt:lpstr>
      <vt:lpstr>Classes architecture example </vt:lpstr>
      <vt:lpstr>Simple guard rails example before final response </vt:lpstr>
      <vt:lpstr>Vector DB static data</vt:lpstr>
      <vt:lpstr>Static data in Pinecone DB</vt:lpstr>
      <vt:lpstr>SQL DB Dynamic data</vt:lpstr>
      <vt:lpstr>Orchestration workflow graph</vt:lpstr>
      <vt:lpstr>General Conversation example</vt:lpstr>
      <vt:lpstr>Parking not related questions example</vt:lpstr>
      <vt:lpstr>Admin confirmation request - start</vt:lpstr>
      <vt:lpstr>Admin received request - refused</vt:lpstr>
      <vt:lpstr>Admin confirmation - refused request end</vt:lpstr>
      <vt:lpstr>Admin received request - confirm</vt:lpstr>
      <vt:lpstr>Admin confirmation - confirmed request end</vt:lpstr>
      <vt:lpstr>Saved data into SQL DB</vt:lpstr>
      <vt:lpstr>Save reservation data via MCP server into file</vt:lpstr>
      <vt:lpstr>Future improvements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Pavlo Tsaritsyn</dc:creator>
  <cp:lastModifiedBy>Pavlo Tsaritsyn</cp:lastModifiedBy>
  <cp:revision>7</cp:revision>
  <dcterms:created xsi:type="dcterms:W3CDTF">2026-03-05T07:03:56Z</dcterms:created>
  <dcterms:modified xsi:type="dcterms:W3CDTF">2026-03-05T13:44:40Z</dcterms:modified>
</cp:coreProperties>
</file>