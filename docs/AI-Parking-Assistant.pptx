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9" r:id="rId4"/>
    <p:sldId id="275" r:id="rId5"/>
    <p:sldId id="258" r:id="rId6"/>
    <p:sldId id="274" r:id="rId7"/>
    <p:sldId id="259" r:id="rId8"/>
    <p:sldId id="270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73" r:id="rId19"/>
    <p:sldId id="271" r:id="rId2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90" d="100"/>
          <a:sy n="90" d="100"/>
        </p:scale>
        <p:origin x="370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5B96DC-E22B-5F7C-CDA5-782D2924E59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59F782F-AE39-2BDA-E527-27CC08C1658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591C5EA-F973-2763-BE8C-83CE82237B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BF13E2-C572-4391-83C5-85B7E42140EB}" type="datetimeFigureOut">
              <a:rPr lang="en-US" smtClean="0"/>
              <a:t>3/5/2026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5F3B1C-08D5-9531-336E-EDEE2C5EE9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A95D104-A84A-2338-1C84-0734D5895C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8E6938-5C03-4E9C-A03A-95DD2E94A0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82683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95EAF0-3363-8FEE-F13B-09EEFDDB95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D5661D-04C2-D773-2217-1D24391E72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E9AD2A-5C61-0013-B50C-2337D149A6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BF13E2-C572-4391-83C5-85B7E42140EB}" type="datetimeFigureOut">
              <a:rPr lang="en-US" smtClean="0"/>
              <a:t>3/5/2026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134C26-AE9E-29FE-A253-C67DAE7B1A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AE0FF2-CE51-17F8-A784-6BD983B51C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8E6938-5C03-4E9C-A03A-95DD2E94A0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221265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0D99CC-248A-63BD-A188-7314C8A27B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15F1969-7B40-F938-924B-606E20FB65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2CDECA0-232A-ECBA-8E56-78E4D1C21A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BF13E2-C572-4391-83C5-85B7E42140EB}" type="datetimeFigureOut">
              <a:rPr lang="en-US" smtClean="0"/>
              <a:t>3/5/2026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1B6480-22D5-D0A8-CE76-A7611DC56B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BE69CDD-85ED-02CA-AFA2-FA60DA1868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8E6938-5C03-4E9C-A03A-95DD2E94A0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552738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D4E5FF-BE0A-2BDB-E3A2-938CA809EF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628665-0CC7-3E27-3F9C-DC0AABB683E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1CF2075-78C9-6E8F-F9BB-F0E789782CE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C86D699-6362-15B5-8D73-67F7781B35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BF13E2-C572-4391-83C5-85B7E42140EB}" type="datetimeFigureOut">
              <a:rPr lang="en-US" smtClean="0"/>
              <a:t>3/5/2026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353CEC4-04A4-C7C4-CE90-6F36067E30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3B0A432-1BBB-13C2-AFCA-008BE95A3B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8E6938-5C03-4E9C-A03A-95DD2E94A0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19450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8B04C9-8546-A9F4-A061-E8F1D7C919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45B6AE4-1FD5-8BB7-3262-BC88DB3A23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2396ED7-A76A-6764-BB5B-33E58F0E34C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3404282-B471-B67F-1022-330592FAE5B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8D4E74E-81F8-4910-2526-AB1F176D24F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5BB6EEE-5435-B272-69ED-E35F89B714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BF13E2-C572-4391-83C5-85B7E42140EB}" type="datetimeFigureOut">
              <a:rPr lang="en-US" smtClean="0"/>
              <a:t>3/5/2026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38FC595-5F21-7CBD-089F-940D953F09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790CB8F-69F9-BC2E-5230-28658C79AB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8E6938-5C03-4E9C-A03A-95DD2E94A0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393789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446D58-F0ED-2490-AC23-D5170B291B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44265DD-D3A2-DFB9-C5ED-36C161F37E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BF13E2-C572-4391-83C5-85B7E42140EB}" type="datetimeFigureOut">
              <a:rPr lang="en-US" smtClean="0"/>
              <a:t>3/5/2026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01131EF-637A-3045-EB0E-4BC86A3D5C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4492734-59FC-9F70-99BD-F8956BAE95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8E6938-5C03-4E9C-A03A-95DD2E94A0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08178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F25EA9C-2A3F-F879-9BF1-D36AF5C7D3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BF13E2-C572-4391-83C5-85B7E42140EB}" type="datetimeFigureOut">
              <a:rPr lang="en-US" smtClean="0"/>
              <a:t>3/5/2026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8AD4826-FFF5-6E22-4627-D3CEAB7B4C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4E5274-6B01-B0D9-9185-B80D9D244C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8E6938-5C03-4E9C-A03A-95DD2E94A0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576247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145ABF-5F62-DA5F-2DD9-FDFAA50B65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AA5CDA-F5E6-8941-9A0B-6BA78147E1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C1C1267-6C4D-57B7-8AB9-882C07B1546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FA4A5FC-5F19-EE46-6C89-FB18F055A0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BF13E2-C572-4391-83C5-85B7E42140EB}" type="datetimeFigureOut">
              <a:rPr lang="en-US" smtClean="0"/>
              <a:t>3/5/2026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3E5132C-8EDF-88C8-436C-2B6F43765D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15AD666-08B3-0831-A893-796028CA44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8E6938-5C03-4E9C-A03A-95DD2E94A0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71359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211AC0-F089-E90B-F5A2-D9B040794F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8F9B0AC-EC17-1D13-7E28-1BD5887622C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50A952F-25FC-0710-FED4-2022D0EC593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97763EF-34D2-7A73-D392-500CEFE907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BF13E2-C572-4391-83C5-85B7E42140EB}" type="datetimeFigureOut">
              <a:rPr lang="en-US" smtClean="0"/>
              <a:t>3/5/2026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9F0410C-E002-40B6-F37B-0A9446D8E1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005EB9A-2749-F845-010D-39FE49CB1E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8E6938-5C03-4E9C-A03A-95DD2E94A0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448758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049AED-F81C-CAEC-5DF0-BCE67531CC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955B51B-F6F6-7144-40D3-B5A6D90AD5F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BD16D6-310C-8248-3755-20EF869EBA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BF13E2-C572-4391-83C5-85B7E42140EB}" type="datetimeFigureOut">
              <a:rPr lang="en-US" smtClean="0"/>
              <a:t>3/5/2026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0EA5C3E-A92B-5C53-9511-6CD975DA65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BA3967-5C1E-2C46-5074-29AEF5DE16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8E6938-5C03-4E9C-A03A-95DD2E94A0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40767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0EDA6A2-F418-6A08-B0F1-A3FCFE2BF9E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F28DC4F-E508-08AB-21C1-ADE01E2DFD3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03EA1B3-63BA-A9A0-92C2-97151576DB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BF13E2-C572-4391-83C5-85B7E42140EB}" type="datetimeFigureOut">
              <a:rPr lang="en-US" smtClean="0"/>
              <a:t>3/5/2026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7741D84-7601-DA35-1B13-D531C81B6F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60EA6C-0716-9828-6BF8-0207AFCA1F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8E6938-5C03-4E9C-A03A-95DD2E94A0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45025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C4864B3-D25C-7DE0-6ECC-D0CFDFE311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726A617-B06B-4A07-F243-592CAFA1144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0975B43-B857-FD0D-B7CD-B53143F0A8E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9BF13E2-C572-4391-83C5-85B7E42140EB}" type="datetimeFigureOut">
              <a:rPr lang="en-US" smtClean="0"/>
              <a:t>3/5/2026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6AE3F4-6026-2811-3FA3-249E402B861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52D144-7E3E-8650-2C27-8EB24145E7F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B8E6938-5C03-4E9C-A03A-95DD2E94A0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3476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ptsaritsyn/parking-space-ai/tree/dev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5" name="Rectangle 24">
            <a:extLst>
              <a:ext uri="{FF2B5EF4-FFF2-40B4-BE49-F238E27FC236}">
                <a16:creationId xmlns:a16="http://schemas.microsoft.com/office/drawing/2014/main" id="{09588DA8-065E-4F6F-8EFD-43104AB2E0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27" name="Rectangle 26">
            <a:extLst>
              <a:ext uri="{FF2B5EF4-FFF2-40B4-BE49-F238E27FC236}">
                <a16:creationId xmlns:a16="http://schemas.microsoft.com/office/drawing/2014/main" id="{C4285719-470E-454C-AF62-8323075F1F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CD9FE4EF-C4D8-49A0-B2FF-81D8DB7D8A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4" y="1410082"/>
            <a:ext cx="6858000" cy="4037836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4300840D-0A0B-4512-BACA-B439D5B9C5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5" y="1420219"/>
            <a:ext cx="6857999" cy="403783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D2B78728-A580-49A7-84F9-6EF6F583AD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767923" y="3588085"/>
            <a:ext cx="2501979" cy="4037841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5" name="Freeform: Shape 34">
            <a:extLst>
              <a:ext uri="{FF2B5EF4-FFF2-40B4-BE49-F238E27FC236}">
                <a16:creationId xmlns:a16="http://schemas.microsoft.com/office/drawing/2014/main" id="{38FAA1A1-D861-433F-88FA-1E9D6FD31D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501737" y="969718"/>
            <a:ext cx="3900357" cy="4178958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8D71EDA1-87BF-4D5D-AB79-F346FD1927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93" y="1399943"/>
            <a:ext cx="6858003" cy="4037835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6C9D38F-74A7-B27F-BB51-9F8A2F05C31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1599" y="586856"/>
            <a:ext cx="4037835" cy="3358612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l"/>
            <a:r>
              <a:rPr lang="en-US" sz="36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AI-Parking-Assistant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2AC8547-64EC-8A60-2E93-F99302535A5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699001" y="668867"/>
            <a:ext cx="6666606" cy="5526660"/>
          </a:xfrm>
        </p:spPr>
        <p:txBody>
          <a:bodyPr vert="horz" lIns="91440" tIns="45720" rIns="91440" bIns="45720" rtlCol="0" anchor="ctr">
            <a:normAutofit lnSpcReduction="10000"/>
          </a:bodyPr>
          <a:lstStyle/>
          <a:p>
            <a:pPr indent="-228600" algn="l">
              <a:buFont typeface="Arial" panose="020B0604020202020204" pitchFamily="34" charset="0"/>
              <a:buChar char="•"/>
            </a:pPr>
            <a:r>
              <a:rPr lang="en-US" sz="1600" dirty="0"/>
              <a:t>Developer: Pavlo Tsaritsyn</a:t>
            </a:r>
          </a:p>
          <a:p>
            <a:pPr indent="-228600" algn="l">
              <a:buFont typeface="Arial" panose="020B0604020202020204" pitchFamily="34" charset="0"/>
              <a:buChar char="•"/>
            </a:pPr>
            <a:r>
              <a:rPr lang="en-US" sz="1600" dirty="0"/>
              <a:t>Project: </a:t>
            </a:r>
            <a:r>
              <a:rPr lang="en-US" sz="1600" dirty="0">
                <a:hlinkClick r:id="rId2"/>
              </a:rPr>
              <a:t>https://github.com/ptsaritsyn/parking-space-ai/tree/dev</a:t>
            </a:r>
            <a:endParaRPr lang="en-US" sz="1600" dirty="0"/>
          </a:p>
          <a:p>
            <a:pPr indent="-228600" algn="l">
              <a:buFont typeface="Arial" panose="020B0604020202020204" pitchFamily="34" charset="0"/>
              <a:buChar char="•"/>
            </a:pPr>
            <a:r>
              <a:rPr lang="en-US" sz="1600" dirty="0"/>
              <a:t>Tools:</a:t>
            </a:r>
          </a:p>
          <a:p>
            <a:pPr marL="800100" lvl="1" indent="-228600" algn="l">
              <a:buFont typeface="Arial" panose="020B0604020202020204" pitchFamily="34" charset="0"/>
              <a:buChar char="•"/>
            </a:pPr>
            <a:r>
              <a:rPr lang="en-US" sz="1600" dirty="0"/>
              <a:t>Language: Python</a:t>
            </a:r>
          </a:p>
          <a:p>
            <a:pPr marL="800100" lvl="1" indent="-228600" algn="l">
              <a:buFont typeface="Arial" panose="020B0604020202020204" pitchFamily="34" charset="0"/>
              <a:buChar char="•"/>
            </a:pPr>
            <a:r>
              <a:rPr lang="en-US" sz="1600" dirty="0"/>
              <a:t>Frameworks: </a:t>
            </a:r>
            <a:r>
              <a:rPr lang="en-US" sz="1600" dirty="0" err="1"/>
              <a:t>LangChain</a:t>
            </a:r>
            <a:r>
              <a:rPr lang="en-US" sz="1600" dirty="0"/>
              <a:t>, </a:t>
            </a:r>
            <a:r>
              <a:rPr lang="en-US" sz="1600" dirty="0" err="1"/>
              <a:t>LangGraph</a:t>
            </a:r>
            <a:endParaRPr lang="en-US" sz="1600" dirty="0"/>
          </a:p>
          <a:p>
            <a:pPr marL="800100" lvl="1" indent="-228600" algn="l">
              <a:buFont typeface="Arial" panose="020B0604020202020204" pitchFamily="34" charset="0"/>
              <a:buChar char="•"/>
            </a:pPr>
            <a:r>
              <a:rPr lang="en-US" sz="1600" dirty="0"/>
              <a:t>Vector DB: Pinecone</a:t>
            </a:r>
          </a:p>
          <a:p>
            <a:pPr marL="800100" lvl="1" indent="-228600" algn="l">
              <a:buFont typeface="Arial" panose="020B0604020202020204" pitchFamily="34" charset="0"/>
              <a:buChar char="•"/>
            </a:pPr>
            <a:r>
              <a:rPr lang="en-US" sz="1600" dirty="0"/>
              <a:t>SQL DB: SQLite</a:t>
            </a:r>
          </a:p>
          <a:p>
            <a:pPr marL="800100" lvl="1" indent="-228600" algn="l">
              <a:buFont typeface="Arial" panose="020B0604020202020204" pitchFamily="34" charset="0"/>
              <a:buChar char="•"/>
            </a:pPr>
            <a:r>
              <a:rPr lang="en-US" sz="1600" dirty="0"/>
              <a:t>GUI: </a:t>
            </a:r>
            <a:r>
              <a:rPr lang="en-US" sz="1600" dirty="0" err="1"/>
              <a:t>Streamlit</a:t>
            </a:r>
            <a:endParaRPr lang="en-US" sz="1600" dirty="0"/>
          </a:p>
          <a:p>
            <a:pPr marL="800100" lvl="1" indent="-228600" algn="l">
              <a:buFont typeface="Arial" panose="020B0604020202020204" pitchFamily="34" charset="0"/>
              <a:buChar char="•"/>
            </a:pPr>
            <a:r>
              <a:rPr lang="en-US" sz="1600" dirty="0"/>
              <a:t>Cache: </a:t>
            </a:r>
            <a:r>
              <a:rPr lang="en-US" sz="1600" dirty="0" err="1"/>
              <a:t>LRUCache</a:t>
            </a:r>
            <a:endParaRPr lang="en-US" sz="1600" dirty="0"/>
          </a:p>
          <a:p>
            <a:pPr marL="800100" lvl="1" indent="-228600" algn="l">
              <a:buFont typeface="Arial" panose="020B0604020202020204" pitchFamily="34" charset="0"/>
              <a:buChar char="•"/>
            </a:pPr>
            <a:r>
              <a:rPr lang="en-US" sz="1600" dirty="0"/>
              <a:t>Tests: </a:t>
            </a:r>
            <a:r>
              <a:rPr lang="en-US" sz="1600" dirty="0" err="1"/>
              <a:t>Pytest</a:t>
            </a:r>
            <a:r>
              <a:rPr lang="en-US" sz="1600" dirty="0"/>
              <a:t>, </a:t>
            </a:r>
            <a:r>
              <a:rPr lang="en-US" sz="1600" dirty="0" err="1"/>
              <a:t>Unittest</a:t>
            </a:r>
            <a:endParaRPr lang="en-US" sz="1600" dirty="0"/>
          </a:p>
          <a:p>
            <a:pPr marL="800100" lvl="1" indent="-228600" algn="l">
              <a:buFont typeface="Arial" panose="020B0604020202020204" pitchFamily="34" charset="0"/>
              <a:buChar char="•"/>
            </a:pPr>
            <a:r>
              <a:rPr lang="en-US" sz="1600" dirty="0"/>
              <a:t>CI: </a:t>
            </a:r>
            <a:r>
              <a:rPr lang="en-US" sz="1600" dirty="0" err="1"/>
              <a:t>Github</a:t>
            </a:r>
            <a:r>
              <a:rPr lang="en-US" sz="1600" dirty="0"/>
              <a:t> Actions</a:t>
            </a:r>
          </a:p>
          <a:p>
            <a:pPr lvl="1" indent="-228600" algn="l">
              <a:buFont typeface="Arial" panose="020B0604020202020204" pitchFamily="34" charset="0"/>
              <a:buChar char="•"/>
            </a:pPr>
            <a:endParaRPr lang="en-US" sz="1600" dirty="0"/>
          </a:p>
          <a:p>
            <a:pPr indent="-228600" algn="l">
              <a:buFont typeface="Arial" panose="020B0604020202020204" pitchFamily="34" charset="0"/>
              <a:buChar char="•"/>
            </a:pPr>
            <a:r>
              <a:rPr lang="en-US" sz="1600" dirty="0"/>
              <a:t>Functionality:</a:t>
            </a:r>
          </a:p>
          <a:p>
            <a:pPr marL="800100" lvl="1" indent="-228600" algn="l">
              <a:buFont typeface="Arial" panose="020B0604020202020204" pitchFamily="34" charset="0"/>
              <a:buChar char="•"/>
            </a:pPr>
            <a:r>
              <a:rPr lang="en-US" sz="1600" dirty="0"/>
              <a:t>Agent capabilities</a:t>
            </a:r>
          </a:p>
          <a:p>
            <a:pPr marL="800100" lvl="1" indent="-228600" algn="l">
              <a:buFont typeface="Arial" panose="020B0604020202020204" pitchFamily="34" charset="0"/>
              <a:buChar char="•"/>
            </a:pPr>
            <a:r>
              <a:rPr lang="en-US" sz="1600" dirty="0"/>
              <a:t>RAG interaction</a:t>
            </a:r>
          </a:p>
          <a:p>
            <a:pPr marL="800100" lvl="1" indent="-228600" algn="l">
              <a:buFont typeface="Arial" panose="020B0604020202020204" pitchFamily="34" charset="0"/>
              <a:buChar char="•"/>
            </a:pPr>
            <a:r>
              <a:rPr lang="en-US" sz="1600" dirty="0"/>
              <a:t>Caching repeatable requests</a:t>
            </a:r>
          </a:p>
          <a:p>
            <a:pPr marL="800100" lvl="1" indent="-228600" algn="l">
              <a:buFont typeface="Arial" panose="020B0604020202020204" pitchFamily="34" charset="0"/>
              <a:buChar char="•"/>
            </a:pPr>
            <a:r>
              <a:rPr lang="en-US" sz="1600" dirty="0"/>
              <a:t>Simple Guard rails</a:t>
            </a:r>
          </a:p>
          <a:p>
            <a:pPr marL="800100" lvl="1" indent="-228600" algn="l">
              <a:buFont typeface="Arial" panose="020B0604020202020204" pitchFamily="34" charset="0"/>
              <a:buChar char="•"/>
            </a:pPr>
            <a:r>
              <a:rPr lang="en-US" sz="1600" dirty="0"/>
              <a:t>Human in the loop confirmation</a:t>
            </a:r>
          </a:p>
          <a:p>
            <a:pPr marL="800100" lvl="1" indent="-228600" algn="l">
              <a:buFont typeface="Arial" panose="020B0604020202020204" pitchFamily="34" charset="0"/>
              <a:buChar char="•"/>
            </a:pPr>
            <a:r>
              <a:rPr lang="en-US" sz="1600" dirty="0"/>
              <a:t>MCP client/server integration</a:t>
            </a:r>
          </a:p>
          <a:p>
            <a:pPr marL="800100" lvl="1" indent="-228600" algn="l">
              <a:buFont typeface="Arial" panose="020B0604020202020204" pitchFamily="34" charset="0"/>
              <a:buChar char="•"/>
            </a:pPr>
            <a:r>
              <a:rPr lang="en-US" sz="1600" dirty="0"/>
              <a:t>Automation tests</a:t>
            </a:r>
          </a:p>
          <a:p>
            <a:pPr lvl="1" indent="-228600" algn="l">
              <a:buFont typeface="Arial" panose="020B0604020202020204" pitchFamily="34" charset="0"/>
              <a:buChar char="•"/>
            </a:pPr>
            <a:endParaRPr lang="en-US" sz="1400" dirty="0"/>
          </a:p>
          <a:p>
            <a:pPr indent="-228600" algn="l">
              <a:buFont typeface="Arial" panose="020B0604020202020204" pitchFamily="34" charset="0"/>
              <a:buChar char="•"/>
            </a:pP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38738212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" name="Rectangle 19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1E5A9A7-95C6-4F4F-B00E-C82E07FE62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7539" y="1417538"/>
            <a:ext cx="6875818" cy="4040744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D07DD2DE-F619-49DD-B5E7-03A290FF4E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158495" y="2660473"/>
            <a:ext cx="4355594" cy="4038603"/>
          </a:xfrm>
          <a:prstGeom prst="rect">
            <a:avLst/>
          </a:prstGeom>
          <a:gradFill>
            <a:gsLst>
              <a:gs pos="0">
                <a:schemeClr val="accent1">
                  <a:alpha val="50000"/>
                </a:schemeClr>
              </a:gs>
              <a:gs pos="100000">
                <a:schemeClr val="accent1">
                  <a:lumMod val="50000"/>
                  <a:alpha val="0"/>
                </a:scheme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85149191-5F60-4A28-AAFF-039F96B0F3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-1180882" y="1638085"/>
            <a:ext cx="6857572" cy="3581401"/>
          </a:xfrm>
          <a:prstGeom prst="rect">
            <a:avLst/>
          </a:prstGeom>
          <a:gradFill>
            <a:gsLst>
              <a:gs pos="0">
                <a:srgbClr val="000000">
                  <a:alpha val="59000"/>
                </a:srgbClr>
              </a:gs>
              <a:gs pos="69000">
                <a:schemeClr val="accent1">
                  <a:alpha val="0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F8260ED5-17F7-4158-B241-D51DD4CF1B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-747355" y="1201312"/>
            <a:ext cx="4808302" cy="4088666"/>
          </a:xfrm>
          <a:custGeom>
            <a:avLst/>
            <a:gdLst>
              <a:gd name="connsiteX0" fmla="*/ 48844 w 4808302"/>
              <a:gd name="connsiteY0" fmla="*/ 2888671 h 4088666"/>
              <a:gd name="connsiteX1" fmla="*/ 0 w 4808302"/>
              <a:gd name="connsiteY1" fmla="*/ 2404151 h 4088666"/>
              <a:gd name="connsiteX2" fmla="*/ 2404151 w 4808302"/>
              <a:gd name="connsiteY2" fmla="*/ 0 h 4088666"/>
              <a:gd name="connsiteX3" fmla="*/ 4808302 w 4808302"/>
              <a:gd name="connsiteY3" fmla="*/ 2404151 h 4088666"/>
              <a:gd name="connsiteX4" fmla="*/ 4700216 w 4808302"/>
              <a:gd name="connsiteY4" fmla="*/ 3119072 h 4088666"/>
              <a:gd name="connsiteX5" fmla="*/ 4643143 w 4808302"/>
              <a:gd name="connsiteY5" fmla="*/ 3275009 h 4088666"/>
              <a:gd name="connsiteX6" fmla="*/ 690093 w 4808302"/>
              <a:gd name="connsiteY6" fmla="*/ 4088666 h 4088666"/>
              <a:gd name="connsiteX7" fmla="*/ 548991 w 4808302"/>
              <a:gd name="connsiteY7" fmla="*/ 3933414 h 4088666"/>
              <a:gd name="connsiteX8" fmla="*/ 48844 w 4808302"/>
              <a:gd name="connsiteY8" fmla="*/ 2888671 h 40886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808302" h="4088666">
                <a:moveTo>
                  <a:pt x="48844" y="2888671"/>
                </a:moveTo>
                <a:cubicBezTo>
                  <a:pt x="16818" y="2732167"/>
                  <a:pt x="0" y="2570123"/>
                  <a:pt x="0" y="2404151"/>
                </a:cubicBezTo>
                <a:cubicBezTo>
                  <a:pt x="0" y="1076375"/>
                  <a:pt x="1076375" y="0"/>
                  <a:pt x="2404151" y="0"/>
                </a:cubicBezTo>
                <a:cubicBezTo>
                  <a:pt x="3731927" y="0"/>
                  <a:pt x="4808302" y="1076375"/>
                  <a:pt x="4808302" y="2404151"/>
                </a:cubicBezTo>
                <a:cubicBezTo>
                  <a:pt x="4808302" y="2653109"/>
                  <a:pt x="4770461" y="2893229"/>
                  <a:pt x="4700216" y="3119072"/>
                </a:cubicBezTo>
                <a:lnTo>
                  <a:pt x="4643143" y="3275009"/>
                </a:lnTo>
                <a:lnTo>
                  <a:pt x="690093" y="4088666"/>
                </a:lnTo>
                <a:lnTo>
                  <a:pt x="548991" y="3933414"/>
                </a:lnTo>
                <a:cubicBezTo>
                  <a:pt x="304015" y="3636572"/>
                  <a:pt x="128908" y="3279932"/>
                  <a:pt x="48844" y="2888671"/>
                </a:cubicBezTo>
                <a:close/>
              </a:path>
            </a:pathLst>
          </a:custGeom>
          <a:gradFill>
            <a:gsLst>
              <a:gs pos="39000">
                <a:schemeClr val="accent1">
                  <a:lumMod val="60000"/>
                  <a:lumOff val="40000"/>
                  <a:alpha val="0"/>
                </a:schemeClr>
              </a:gs>
              <a:gs pos="100000">
                <a:schemeClr val="accent1">
                  <a:lumMod val="75000"/>
                  <a:alpha val="26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0BAC8CA-36DF-0A5F-99C0-A3B633928A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041" y="2767106"/>
            <a:ext cx="2880828" cy="3071906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36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Project Structure</a:t>
            </a:r>
          </a:p>
        </p:txBody>
      </p:sp>
      <p:pic>
        <p:nvPicPr>
          <p:cNvPr id="5" name="Content Placeholder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B3961553-C2D4-C417-855D-CA8B8F0B545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02428" y="1338301"/>
            <a:ext cx="7225748" cy="41813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37225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8" name="Rectangle 27">
            <a:extLst>
              <a:ext uri="{FF2B5EF4-FFF2-40B4-BE49-F238E27FC236}">
                <a16:creationId xmlns:a16="http://schemas.microsoft.com/office/drawing/2014/main" id="{50D1C5B3-B60D-4696-AE60-100D5EC8AB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73EDDF53-0851-48D4-A466-6FE0DCE91E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12192002" cy="1576446"/>
            <a:chOff x="0" y="0"/>
            <a:chExt cx="12192002" cy="1576446"/>
          </a:xfrm>
        </p:grpSpPr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D074D04C-85E8-4A3E-90D7-86A10AE0482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0800000" flipH="1">
              <a:off x="2" y="0"/>
              <a:ext cx="12191998" cy="1575955"/>
            </a:xfrm>
            <a:prstGeom prst="rect">
              <a:avLst/>
            </a:prstGeom>
            <a:gradFill>
              <a:gsLst>
                <a:gs pos="0">
                  <a:srgbClr val="000000">
                    <a:alpha val="96000"/>
                  </a:srgbClr>
                </a:gs>
                <a:gs pos="100000">
                  <a:schemeClr val="accent1">
                    <a:lumMod val="75000"/>
                  </a:schemeClr>
                </a:gs>
              </a:gsLst>
              <a:lin ang="84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4097020A-86B6-43BD-A2AA-66AE72CA311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5307778" y="-5307778"/>
              <a:ext cx="1576446" cy="12192002"/>
            </a:xfrm>
            <a:prstGeom prst="rect">
              <a:avLst/>
            </a:prstGeom>
            <a:gradFill>
              <a:gsLst>
                <a:gs pos="45000">
                  <a:schemeClr val="accent1">
                    <a:alpha val="0"/>
                  </a:schemeClr>
                </a:gs>
                <a:gs pos="99000">
                  <a:srgbClr val="000000">
                    <a:alpha val="74000"/>
                  </a:srgbClr>
                </a:gs>
              </a:gsLst>
              <a:lin ang="114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20C6C743-32FE-4E24-AA22-45D3B1C7C0A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825434" y="0"/>
              <a:ext cx="4303422" cy="1575461"/>
            </a:xfrm>
            <a:prstGeom prst="rect">
              <a:avLst/>
            </a:prstGeom>
            <a:gradFill>
              <a:gsLst>
                <a:gs pos="0">
                  <a:schemeClr val="accent1">
                    <a:alpha val="17000"/>
                  </a:schemeClr>
                </a:gs>
                <a:gs pos="74000">
                  <a:schemeClr val="accent1">
                    <a:lumMod val="50000"/>
                    <a:alpha val="0"/>
                  </a:schemeClr>
                </a:gs>
              </a:gsLst>
              <a:lin ang="144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4337411D-60C1-F9AD-AE4F-24614998B8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407695"/>
            <a:ext cx="9724030" cy="834251"/>
          </a:xfrm>
        </p:spPr>
        <p:txBody>
          <a:bodyPr anchor="ctr">
            <a:normAutofit fontScale="90000"/>
          </a:bodyPr>
          <a:lstStyle/>
          <a:p>
            <a:r>
              <a:rPr lang="en-US" sz="4000" dirty="0">
                <a:solidFill>
                  <a:srgbClr val="FFFFFF"/>
                </a:solidFill>
              </a:rPr>
              <a:t>Classes architecture example</a:t>
            </a:r>
            <a:br>
              <a:rPr lang="en-US" sz="2500" dirty="0">
                <a:solidFill>
                  <a:srgbClr val="FFFFFF"/>
                </a:solidFill>
              </a:rPr>
            </a:br>
            <a:endParaRPr lang="en-US" sz="2500" dirty="0">
              <a:solidFill>
                <a:srgbClr val="FFFFFF"/>
              </a:solidFill>
            </a:endParaRPr>
          </a:p>
        </p:txBody>
      </p:sp>
      <p:pic>
        <p:nvPicPr>
          <p:cNvPr id="21" name="Content Placeholder 20">
            <a:extLst>
              <a:ext uri="{FF2B5EF4-FFF2-40B4-BE49-F238E27FC236}">
                <a16:creationId xmlns:a16="http://schemas.microsoft.com/office/drawing/2014/main" id="{0A12A5C1-5665-7E19-DA49-1528B6C6E6A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5517" y="1864217"/>
            <a:ext cx="4656083" cy="1892382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AB996E05-B329-7FD8-0657-739753F16B5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55499" y="1756942"/>
            <a:ext cx="6287822" cy="4376799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1F76C77D-0727-8EDB-E6DC-4C8967FDF1F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55499" y="6310979"/>
            <a:ext cx="3939691" cy="547021"/>
          </a:xfrm>
          <a:prstGeom prst="rect">
            <a:avLst/>
          </a:prstGeom>
        </p:spPr>
      </p:pic>
      <p:sp>
        <p:nvSpPr>
          <p:cNvPr id="25" name="Content Placeholder 24">
            <a:extLst>
              <a:ext uri="{FF2B5EF4-FFF2-40B4-BE49-F238E27FC236}">
                <a16:creationId xmlns:a16="http://schemas.microsoft.com/office/drawing/2014/main" id="{1334F8E4-D566-6418-5A16-355D0728CCA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5517" y="4604654"/>
            <a:ext cx="3306295" cy="184565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dirty="0"/>
              <a:t>Advantage:</a:t>
            </a:r>
          </a:p>
          <a:p>
            <a:pPr lvl="1"/>
            <a:r>
              <a:rPr lang="en-US" sz="1600" dirty="0"/>
              <a:t>General logic handling.</a:t>
            </a:r>
          </a:p>
          <a:p>
            <a:pPr lvl="1"/>
            <a:r>
              <a:rPr lang="en-US" sz="1600" dirty="0"/>
              <a:t>Error handling.</a:t>
            </a:r>
          </a:p>
          <a:p>
            <a:pPr lvl="1"/>
            <a:r>
              <a:rPr lang="en-US" sz="1600" dirty="0"/>
              <a:t>Each Base class has own polymorph interface methods set.</a:t>
            </a:r>
          </a:p>
          <a:p>
            <a:pPr marL="0" indent="0">
              <a:buNone/>
            </a:pP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63776724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32E1B11-15AE-45F6-E11B-349E60C924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8" name="Rectangle 27">
            <a:extLst>
              <a:ext uri="{FF2B5EF4-FFF2-40B4-BE49-F238E27FC236}">
                <a16:creationId xmlns:a16="http://schemas.microsoft.com/office/drawing/2014/main" id="{103C2F57-A156-D58B-D011-993652EB81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7904365D-0707-A8A1-BC40-135DA9D295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12192002" cy="1576446"/>
            <a:chOff x="0" y="0"/>
            <a:chExt cx="12192002" cy="1576446"/>
          </a:xfrm>
        </p:grpSpPr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4D4391C7-01A9-2C8C-5C2D-7AA7145FF88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0800000" flipH="1">
              <a:off x="2" y="0"/>
              <a:ext cx="12191998" cy="1575955"/>
            </a:xfrm>
            <a:prstGeom prst="rect">
              <a:avLst/>
            </a:prstGeom>
            <a:gradFill>
              <a:gsLst>
                <a:gs pos="0">
                  <a:srgbClr val="000000">
                    <a:alpha val="96000"/>
                  </a:srgbClr>
                </a:gs>
                <a:gs pos="100000">
                  <a:schemeClr val="accent1">
                    <a:lumMod val="75000"/>
                  </a:schemeClr>
                </a:gs>
              </a:gsLst>
              <a:lin ang="84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19384A15-72C7-729C-7A62-F20AA1C5831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5307778" y="-5307778"/>
              <a:ext cx="1576446" cy="12192002"/>
            </a:xfrm>
            <a:prstGeom prst="rect">
              <a:avLst/>
            </a:prstGeom>
            <a:gradFill>
              <a:gsLst>
                <a:gs pos="45000">
                  <a:schemeClr val="accent1">
                    <a:alpha val="0"/>
                  </a:schemeClr>
                </a:gs>
                <a:gs pos="99000">
                  <a:srgbClr val="000000">
                    <a:alpha val="74000"/>
                  </a:srgbClr>
                </a:gs>
              </a:gsLst>
              <a:lin ang="114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3CDD0CB6-68E7-4E0E-8523-D16E0B04814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825434" y="0"/>
              <a:ext cx="4303422" cy="1575461"/>
            </a:xfrm>
            <a:prstGeom prst="rect">
              <a:avLst/>
            </a:prstGeom>
            <a:gradFill>
              <a:gsLst>
                <a:gs pos="0">
                  <a:schemeClr val="accent1">
                    <a:alpha val="17000"/>
                  </a:schemeClr>
                </a:gs>
                <a:gs pos="74000">
                  <a:schemeClr val="accent1">
                    <a:lumMod val="50000"/>
                    <a:alpha val="0"/>
                  </a:schemeClr>
                </a:gs>
              </a:gsLst>
              <a:lin ang="144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0FDD4E6F-46DD-231D-CFDF-0502DB61D4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407695"/>
            <a:ext cx="9724030" cy="834251"/>
          </a:xfrm>
        </p:spPr>
        <p:txBody>
          <a:bodyPr anchor="ctr">
            <a:normAutofit fontScale="90000"/>
          </a:bodyPr>
          <a:lstStyle/>
          <a:p>
            <a:r>
              <a:rPr lang="en-US" sz="4000" dirty="0">
                <a:solidFill>
                  <a:srgbClr val="FFFFFF"/>
                </a:solidFill>
              </a:rPr>
              <a:t>Simple guard rails example before final response</a:t>
            </a:r>
            <a:br>
              <a:rPr lang="en-US" sz="2500" dirty="0">
                <a:solidFill>
                  <a:srgbClr val="FFFFFF"/>
                </a:solidFill>
              </a:rPr>
            </a:br>
            <a:endParaRPr lang="en-US" sz="2500" dirty="0">
              <a:solidFill>
                <a:srgbClr val="FFFFFF"/>
              </a:solidFill>
            </a:endParaRPr>
          </a:p>
        </p:txBody>
      </p:sp>
      <p:pic>
        <p:nvPicPr>
          <p:cNvPr id="4" name="Content Placeholder 3" descr="A screenshot of a computer&#10;&#10;AI-generated content may be incorrect.">
            <a:extLst>
              <a:ext uri="{FF2B5EF4-FFF2-40B4-BE49-F238E27FC236}">
                <a16:creationId xmlns:a16="http://schemas.microsoft.com/office/drawing/2014/main" id="{F756ACEC-F67D-7232-C0CC-DB27478BF50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9528" y="3047027"/>
            <a:ext cx="8122204" cy="1260813"/>
          </a:xfrm>
        </p:spPr>
      </p:pic>
    </p:spTree>
    <p:extLst>
      <p:ext uri="{BB962C8B-B14F-4D97-AF65-F5344CB8AC3E}">
        <p14:creationId xmlns:p14="http://schemas.microsoft.com/office/powerpoint/2010/main" val="228011245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1199E1B1-A8C0-4FE8-A5A8-1CB41D69F8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4A8DE83-DE75-4B41-9DB4-A7EC0B0DEC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8128856" cy="1575461"/>
          </a:xfrm>
          <a:prstGeom prst="rect">
            <a:avLst/>
          </a:prstGeom>
          <a:gradFill>
            <a:gsLst>
              <a:gs pos="0">
                <a:schemeClr val="accent1">
                  <a:alpha val="41000"/>
                </a:schemeClr>
              </a:gs>
              <a:gs pos="74000">
                <a:schemeClr val="accent1">
                  <a:lumMod val="60000"/>
                  <a:lumOff val="40000"/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A7009A0A-BEF5-4EAC-AF15-E4F9F002E2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" y="-1"/>
            <a:ext cx="12192002" cy="1574311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78000">
                <a:schemeClr val="accent1">
                  <a:alpha val="15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A2629FF-4396-69F0-4B91-FDB557CEC5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713" y="248038"/>
            <a:ext cx="7063721" cy="115920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36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Vector DB static data</a:t>
            </a:r>
          </a:p>
        </p:txBody>
      </p:sp>
      <p:pic>
        <p:nvPicPr>
          <p:cNvPr id="9" name="Content Placeholder 8" descr="A close-up of a computer screen&#10;&#10;AI-generated content may be incorrect.">
            <a:extLst>
              <a:ext uri="{FF2B5EF4-FFF2-40B4-BE49-F238E27FC236}">
                <a16:creationId xmlns:a16="http://schemas.microsoft.com/office/drawing/2014/main" id="{A188F8D1-8566-4B4F-9DD1-AE87CA3E4D8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2225" y="2450763"/>
            <a:ext cx="11327549" cy="34832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564618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" name="Rectangle 19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1199E1B1-A8C0-4FE8-A5A8-1CB41D69F8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84A8DE83-DE75-4B41-9DB4-A7EC0B0DEC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8128856" cy="1575461"/>
          </a:xfrm>
          <a:prstGeom prst="rect">
            <a:avLst/>
          </a:prstGeom>
          <a:gradFill>
            <a:gsLst>
              <a:gs pos="0">
                <a:schemeClr val="accent1">
                  <a:alpha val="41000"/>
                </a:schemeClr>
              </a:gs>
              <a:gs pos="74000">
                <a:schemeClr val="accent1">
                  <a:lumMod val="60000"/>
                  <a:lumOff val="40000"/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A7009A0A-BEF5-4EAC-AF15-E4F9F002E2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" y="-1"/>
            <a:ext cx="12192002" cy="1574311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78000">
                <a:schemeClr val="accent1">
                  <a:alpha val="15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4965B2B-BBD0-B2B5-08D8-771C163C55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713" y="248038"/>
            <a:ext cx="7063721" cy="115920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36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Static data in Pinecone DB</a:t>
            </a:r>
          </a:p>
        </p:txBody>
      </p:sp>
      <p:pic>
        <p:nvPicPr>
          <p:cNvPr id="5" name="Content Placeholder 4" descr="A screenshot of a chat&#10;&#10;AI-generated content may be incorrect.">
            <a:extLst>
              <a:ext uri="{FF2B5EF4-FFF2-40B4-BE49-F238E27FC236}">
                <a16:creationId xmlns:a16="http://schemas.microsoft.com/office/drawing/2014/main" id="{EA73363C-EF47-4B3B-511C-0EBE4545CFF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73630" y="1966293"/>
            <a:ext cx="8244738" cy="44521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811335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0" name="Rectangle 29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91E5A9A7-95C6-4F4F-B00E-C82E07FE62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7539" y="1417538"/>
            <a:ext cx="6875818" cy="4040744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D07DD2DE-F619-49DD-B5E7-03A290FF4E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158495" y="2660473"/>
            <a:ext cx="4355594" cy="4038603"/>
          </a:xfrm>
          <a:prstGeom prst="rect">
            <a:avLst/>
          </a:prstGeom>
          <a:gradFill>
            <a:gsLst>
              <a:gs pos="0">
                <a:schemeClr val="accent1">
                  <a:alpha val="50000"/>
                </a:schemeClr>
              </a:gs>
              <a:gs pos="100000">
                <a:schemeClr val="accent1">
                  <a:lumMod val="50000"/>
                  <a:alpha val="0"/>
                </a:scheme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85149191-5F60-4A28-AAFF-039F96B0F3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-1180882" y="1638085"/>
            <a:ext cx="6857572" cy="3581401"/>
          </a:xfrm>
          <a:prstGeom prst="rect">
            <a:avLst/>
          </a:prstGeom>
          <a:gradFill>
            <a:gsLst>
              <a:gs pos="0">
                <a:srgbClr val="000000">
                  <a:alpha val="59000"/>
                </a:srgbClr>
              </a:gs>
              <a:gs pos="69000">
                <a:schemeClr val="accent1">
                  <a:alpha val="0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8" name="Freeform: Shape 37">
            <a:extLst>
              <a:ext uri="{FF2B5EF4-FFF2-40B4-BE49-F238E27FC236}">
                <a16:creationId xmlns:a16="http://schemas.microsoft.com/office/drawing/2014/main" id="{F8260ED5-17F7-4158-B241-D51DD4CF1B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-747355" y="1201312"/>
            <a:ext cx="4808302" cy="4088666"/>
          </a:xfrm>
          <a:custGeom>
            <a:avLst/>
            <a:gdLst>
              <a:gd name="connsiteX0" fmla="*/ 48844 w 4808302"/>
              <a:gd name="connsiteY0" fmla="*/ 2888671 h 4088666"/>
              <a:gd name="connsiteX1" fmla="*/ 0 w 4808302"/>
              <a:gd name="connsiteY1" fmla="*/ 2404151 h 4088666"/>
              <a:gd name="connsiteX2" fmla="*/ 2404151 w 4808302"/>
              <a:gd name="connsiteY2" fmla="*/ 0 h 4088666"/>
              <a:gd name="connsiteX3" fmla="*/ 4808302 w 4808302"/>
              <a:gd name="connsiteY3" fmla="*/ 2404151 h 4088666"/>
              <a:gd name="connsiteX4" fmla="*/ 4700216 w 4808302"/>
              <a:gd name="connsiteY4" fmla="*/ 3119072 h 4088666"/>
              <a:gd name="connsiteX5" fmla="*/ 4643143 w 4808302"/>
              <a:gd name="connsiteY5" fmla="*/ 3275009 h 4088666"/>
              <a:gd name="connsiteX6" fmla="*/ 690093 w 4808302"/>
              <a:gd name="connsiteY6" fmla="*/ 4088666 h 4088666"/>
              <a:gd name="connsiteX7" fmla="*/ 548991 w 4808302"/>
              <a:gd name="connsiteY7" fmla="*/ 3933414 h 4088666"/>
              <a:gd name="connsiteX8" fmla="*/ 48844 w 4808302"/>
              <a:gd name="connsiteY8" fmla="*/ 2888671 h 40886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808302" h="4088666">
                <a:moveTo>
                  <a:pt x="48844" y="2888671"/>
                </a:moveTo>
                <a:cubicBezTo>
                  <a:pt x="16818" y="2732167"/>
                  <a:pt x="0" y="2570123"/>
                  <a:pt x="0" y="2404151"/>
                </a:cubicBezTo>
                <a:cubicBezTo>
                  <a:pt x="0" y="1076375"/>
                  <a:pt x="1076375" y="0"/>
                  <a:pt x="2404151" y="0"/>
                </a:cubicBezTo>
                <a:cubicBezTo>
                  <a:pt x="3731927" y="0"/>
                  <a:pt x="4808302" y="1076375"/>
                  <a:pt x="4808302" y="2404151"/>
                </a:cubicBezTo>
                <a:cubicBezTo>
                  <a:pt x="4808302" y="2653109"/>
                  <a:pt x="4770461" y="2893229"/>
                  <a:pt x="4700216" y="3119072"/>
                </a:cubicBezTo>
                <a:lnTo>
                  <a:pt x="4643143" y="3275009"/>
                </a:lnTo>
                <a:lnTo>
                  <a:pt x="690093" y="4088666"/>
                </a:lnTo>
                <a:lnTo>
                  <a:pt x="548991" y="3933414"/>
                </a:lnTo>
                <a:cubicBezTo>
                  <a:pt x="304015" y="3636572"/>
                  <a:pt x="128908" y="3279932"/>
                  <a:pt x="48844" y="2888671"/>
                </a:cubicBezTo>
                <a:close/>
              </a:path>
            </a:pathLst>
          </a:custGeom>
          <a:gradFill>
            <a:gsLst>
              <a:gs pos="39000">
                <a:schemeClr val="accent1">
                  <a:lumMod val="60000"/>
                  <a:lumOff val="40000"/>
                  <a:alpha val="0"/>
                </a:schemeClr>
              </a:gs>
              <a:gs pos="100000">
                <a:schemeClr val="accent1">
                  <a:lumMod val="75000"/>
                  <a:alpha val="26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23EE5D7-BF96-6DAC-70D4-C084509D5A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041" y="2767106"/>
            <a:ext cx="2880828" cy="3071906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36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SQL DB Dynamic data</a:t>
            </a:r>
          </a:p>
        </p:txBody>
      </p:sp>
      <p:pic>
        <p:nvPicPr>
          <p:cNvPr id="5" name="Content Placeholder 4" descr="A diagram of a computer&#10;&#10;AI-generated content may be incorrect.">
            <a:extLst>
              <a:ext uri="{FF2B5EF4-FFF2-40B4-BE49-F238E27FC236}">
                <a16:creationId xmlns:a16="http://schemas.microsoft.com/office/drawing/2014/main" id="{1B72B70E-07FE-E4DB-BF13-297D6B8733E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61318" y="467208"/>
            <a:ext cx="6907968" cy="59235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337647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1E5A9A7-95C6-4F4F-B00E-C82E07FE62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7539" y="1417538"/>
            <a:ext cx="6875818" cy="4040744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D07DD2DE-F619-49DD-B5E7-03A290FF4E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158495" y="2660473"/>
            <a:ext cx="4355594" cy="4038603"/>
          </a:xfrm>
          <a:prstGeom prst="rect">
            <a:avLst/>
          </a:prstGeom>
          <a:gradFill>
            <a:gsLst>
              <a:gs pos="0">
                <a:schemeClr val="accent1">
                  <a:alpha val="50000"/>
                </a:schemeClr>
              </a:gs>
              <a:gs pos="100000">
                <a:schemeClr val="accent1">
                  <a:lumMod val="50000"/>
                  <a:alpha val="0"/>
                </a:scheme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5149191-5F60-4A28-AAFF-039F96B0F3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-1180882" y="1638085"/>
            <a:ext cx="6857572" cy="3581401"/>
          </a:xfrm>
          <a:prstGeom prst="rect">
            <a:avLst/>
          </a:prstGeom>
          <a:gradFill>
            <a:gsLst>
              <a:gs pos="0">
                <a:srgbClr val="000000">
                  <a:alpha val="59000"/>
                </a:srgbClr>
              </a:gs>
              <a:gs pos="69000">
                <a:schemeClr val="accent1">
                  <a:alpha val="0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F8260ED5-17F7-4158-B241-D51DD4CF1B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-747355" y="1201312"/>
            <a:ext cx="4808302" cy="4088666"/>
          </a:xfrm>
          <a:custGeom>
            <a:avLst/>
            <a:gdLst>
              <a:gd name="connsiteX0" fmla="*/ 48844 w 4808302"/>
              <a:gd name="connsiteY0" fmla="*/ 2888671 h 4088666"/>
              <a:gd name="connsiteX1" fmla="*/ 0 w 4808302"/>
              <a:gd name="connsiteY1" fmla="*/ 2404151 h 4088666"/>
              <a:gd name="connsiteX2" fmla="*/ 2404151 w 4808302"/>
              <a:gd name="connsiteY2" fmla="*/ 0 h 4088666"/>
              <a:gd name="connsiteX3" fmla="*/ 4808302 w 4808302"/>
              <a:gd name="connsiteY3" fmla="*/ 2404151 h 4088666"/>
              <a:gd name="connsiteX4" fmla="*/ 4700216 w 4808302"/>
              <a:gd name="connsiteY4" fmla="*/ 3119072 h 4088666"/>
              <a:gd name="connsiteX5" fmla="*/ 4643143 w 4808302"/>
              <a:gd name="connsiteY5" fmla="*/ 3275009 h 4088666"/>
              <a:gd name="connsiteX6" fmla="*/ 690093 w 4808302"/>
              <a:gd name="connsiteY6" fmla="*/ 4088666 h 4088666"/>
              <a:gd name="connsiteX7" fmla="*/ 548991 w 4808302"/>
              <a:gd name="connsiteY7" fmla="*/ 3933414 h 4088666"/>
              <a:gd name="connsiteX8" fmla="*/ 48844 w 4808302"/>
              <a:gd name="connsiteY8" fmla="*/ 2888671 h 40886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808302" h="4088666">
                <a:moveTo>
                  <a:pt x="48844" y="2888671"/>
                </a:moveTo>
                <a:cubicBezTo>
                  <a:pt x="16818" y="2732167"/>
                  <a:pt x="0" y="2570123"/>
                  <a:pt x="0" y="2404151"/>
                </a:cubicBezTo>
                <a:cubicBezTo>
                  <a:pt x="0" y="1076375"/>
                  <a:pt x="1076375" y="0"/>
                  <a:pt x="2404151" y="0"/>
                </a:cubicBezTo>
                <a:cubicBezTo>
                  <a:pt x="3731927" y="0"/>
                  <a:pt x="4808302" y="1076375"/>
                  <a:pt x="4808302" y="2404151"/>
                </a:cubicBezTo>
                <a:cubicBezTo>
                  <a:pt x="4808302" y="2653109"/>
                  <a:pt x="4770461" y="2893229"/>
                  <a:pt x="4700216" y="3119072"/>
                </a:cubicBezTo>
                <a:lnTo>
                  <a:pt x="4643143" y="3275009"/>
                </a:lnTo>
                <a:lnTo>
                  <a:pt x="690093" y="4088666"/>
                </a:lnTo>
                <a:lnTo>
                  <a:pt x="548991" y="3933414"/>
                </a:lnTo>
                <a:cubicBezTo>
                  <a:pt x="304015" y="3636572"/>
                  <a:pt x="128908" y="3279932"/>
                  <a:pt x="48844" y="2888671"/>
                </a:cubicBezTo>
                <a:close/>
              </a:path>
            </a:pathLst>
          </a:custGeom>
          <a:gradFill>
            <a:gsLst>
              <a:gs pos="39000">
                <a:schemeClr val="accent1">
                  <a:lumMod val="60000"/>
                  <a:lumOff val="40000"/>
                  <a:alpha val="0"/>
                </a:schemeClr>
              </a:gs>
              <a:gs pos="100000">
                <a:schemeClr val="accent1">
                  <a:lumMod val="75000"/>
                  <a:alpha val="26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BA4C84E-525F-8D84-DAF6-CBA09D6D51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041" y="2767106"/>
            <a:ext cx="2880828" cy="3071906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36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Orchestration workflow graph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238A9902-5530-A2CD-D028-0E61DCA8559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57594" y="467208"/>
            <a:ext cx="7115415" cy="59235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077230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3" name="Rectangle 42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91E5A9A7-95C6-4F4F-B00E-C82E07FE62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7539" y="1417538"/>
            <a:ext cx="6875818" cy="4040744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D07DD2DE-F619-49DD-B5E7-03A290FF4E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158495" y="2660473"/>
            <a:ext cx="4355594" cy="4038603"/>
          </a:xfrm>
          <a:prstGeom prst="rect">
            <a:avLst/>
          </a:prstGeom>
          <a:gradFill>
            <a:gsLst>
              <a:gs pos="0">
                <a:schemeClr val="accent1">
                  <a:alpha val="50000"/>
                </a:schemeClr>
              </a:gs>
              <a:gs pos="100000">
                <a:schemeClr val="accent1">
                  <a:lumMod val="50000"/>
                  <a:alpha val="0"/>
                </a:scheme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85149191-5F60-4A28-AAFF-039F96B0F3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-1180882" y="1638085"/>
            <a:ext cx="6857572" cy="3581401"/>
          </a:xfrm>
          <a:prstGeom prst="rect">
            <a:avLst/>
          </a:prstGeom>
          <a:gradFill>
            <a:gsLst>
              <a:gs pos="0">
                <a:srgbClr val="000000">
                  <a:alpha val="59000"/>
                </a:srgbClr>
              </a:gs>
              <a:gs pos="69000">
                <a:schemeClr val="accent1">
                  <a:alpha val="0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1" name="Freeform: Shape 50">
            <a:extLst>
              <a:ext uri="{FF2B5EF4-FFF2-40B4-BE49-F238E27FC236}">
                <a16:creationId xmlns:a16="http://schemas.microsoft.com/office/drawing/2014/main" id="{F8260ED5-17F7-4158-B241-D51DD4CF1B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-747355" y="1201312"/>
            <a:ext cx="4808302" cy="4088666"/>
          </a:xfrm>
          <a:custGeom>
            <a:avLst/>
            <a:gdLst>
              <a:gd name="connsiteX0" fmla="*/ 48844 w 4808302"/>
              <a:gd name="connsiteY0" fmla="*/ 2888671 h 4088666"/>
              <a:gd name="connsiteX1" fmla="*/ 0 w 4808302"/>
              <a:gd name="connsiteY1" fmla="*/ 2404151 h 4088666"/>
              <a:gd name="connsiteX2" fmla="*/ 2404151 w 4808302"/>
              <a:gd name="connsiteY2" fmla="*/ 0 h 4088666"/>
              <a:gd name="connsiteX3" fmla="*/ 4808302 w 4808302"/>
              <a:gd name="connsiteY3" fmla="*/ 2404151 h 4088666"/>
              <a:gd name="connsiteX4" fmla="*/ 4700216 w 4808302"/>
              <a:gd name="connsiteY4" fmla="*/ 3119072 h 4088666"/>
              <a:gd name="connsiteX5" fmla="*/ 4643143 w 4808302"/>
              <a:gd name="connsiteY5" fmla="*/ 3275009 h 4088666"/>
              <a:gd name="connsiteX6" fmla="*/ 690093 w 4808302"/>
              <a:gd name="connsiteY6" fmla="*/ 4088666 h 4088666"/>
              <a:gd name="connsiteX7" fmla="*/ 548991 w 4808302"/>
              <a:gd name="connsiteY7" fmla="*/ 3933414 h 4088666"/>
              <a:gd name="connsiteX8" fmla="*/ 48844 w 4808302"/>
              <a:gd name="connsiteY8" fmla="*/ 2888671 h 40886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808302" h="4088666">
                <a:moveTo>
                  <a:pt x="48844" y="2888671"/>
                </a:moveTo>
                <a:cubicBezTo>
                  <a:pt x="16818" y="2732167"/>
                  <a:pt x="0" y="2570123"/>
                  <a:pt x="0" y="2404151"/>
                </a:cubicBezTo>
                <a:cubicBezTo>
                  <a:pt x="0" y="1076375"/>
                  <a:pt x="1076375" y="0"/>
                  <a:pt x="2404151" y="0"/>
                </a:cubicBezTo>
                <a:cubicBezTo>
                  <a:pt x="3731927" y="0"/>
                  <a:pt x="4808302" y="1076375"/>
                  <a:pt x="4808302" y="2404151"/>
                </a:cubicBezTo>
                <a:cubicBezTo>
                  <a:pt x="4808302" y="2653109"/>
                  <a:pt x="4770461" y="2893229"/>
                  <a:pt x="4700216" y="3119072"/>
                </a:cubicBezTo>
                <a:lnTo>
                  <a:pt x="4643143" y="3275009"/>
                </a:lnTo>
                <a:lnTo>
                  <a:pt x="690093" y="4088666"/>
                </a:lnTo>
                <a:lnTo>
                  <a:pt x="548991" y="3933414"/>
                </a:lnTo>
                <a:cubicBezTo>
                  <a:pt x="304015" y="3636572"/>
                  <a:pt x="128908" y="3279932"/>
                  <a:pt x="48844" y="2888671"/>
                </a:cubicBezTo>
                <a:close/>
              </a:path>
            </a:pathLst>
          </a:custGeom>
          <a:gradFill>
            <a:gsLst>
              <a:gs pos="39000">
                <a:schemeClr val="accent1">
                  <a:lumMod val="60000"/>
                  <a:lumOff val="40000"/>
                  <a:alpha val="0"/>
                </a:schemeClr>
              </a:gs>
              <a:gs pos="100000">
                <a:schemeClr val="accent1">
                  <a:lumMod val="75000"/>
                  <a:alpha val="26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9A9C03E-4D64-623C-C3B0-5C42F08193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041" y="2767106"/>
            <a:ext cx="2880828" cy="3071906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36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General Conversation example</a:t>
            </a:r>
          </a:p>
        </p:txBody>
      </p:sp>
      <p:pic>
        <p:nvPicPr>
          <p:cNvPr id="7" name="Content Placeholder 6" descr="A screenshot of a chat&#10;&#10;AI-generated content may be incorrect.">
            <a:extLst>
              <a:ext uri="{FF2B5EF4-FFF2-40B4-BE49-F238E27FC236}">
                <a16:creationId xmlns:a16="http://schemas.microsoft.com/office/drawing/2014/main" id="{9455E2E0-A967-D5C4-7B28-60449C4E46D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46679" y="203277"/>
            <a:ext cx="7032078" cy="6492163"/>
          </a:xfrm>
        </p:spPr>
      </p:pic>
    </p:spTree>
    <p:extLst>
      <p:ext uri="{BB962C8B-B14F-4D97-AF65-F5344CB8AC3E}">
        <p14:creationId xmlns:p14="http://schemas.microsoft.com/office/powerpoint/2010/main" val="186032889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1E5A9A7-95C6-4F4F-B00E-C82E07FE62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7539" y="1417538"/>
            <a:ext cx="6875818" cy="4040744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D07DD2DE-F619-49DD-B5E7-03A290FF4E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158495" y="2660473"/>
            <a:ext cx="4355594" cy="4038603"/>
          </a:xfrm>
          <a:prstGeom prst="rect">
            <a:avLst/>
          </a:prstGeom>
          <a:gradFill>
            <a:gsLst>
              <a:gs pos="0">
                <a:schemeClr val="accent1">
                  <a:alpha val="50000"/>
                </a:schemeClr>
              </a:gs>
              <a:gs pos="100000">
                <a:schemeClr val="accent1">
                  <a:lumMod val="50000"/>
                  <a:alpha val="0"/>
                </a:scheme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5149191-5F60-4A28-AAFF-039F96B0F3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-1180882" y="1638085"/>
            <a:ext cx="6857572" cy="3581401"/>
          </a:xfrm>
          <a:prstGeom prst="rect">
            <a:avLst/>
          </a:prstGeom>
          <a:gradFill>
            <a:gsLst>
              <a:gs pos="0">
                <a:srgbClr val="000000">
                  <a:alpha val="59000"/>
                </a:srgbClr>
              </a:gs>
              <a:gs pos="69000">
                <a:schemeClr val="accent1">
                  <a:alpha val="0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F8260ED5-17F7-4158-B241-D51DD4CF1B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-747355" y="1201312"/>
            <a:ext cx="4808302" cy="4088666"/>
          </a:xfrm>
          <a:custGeom>
            <a:avLst/>
            <a:gdLst>
              <a:gd name="connsiteX0" fmla="*/ 48844 w 4808302"/>
              <a:gd name="connsiteY0" fmla="*/ 2888671 h 4088666"/>
              <a:gd name="connsiteX1" fmla="*/ 0 w 4808302"/>
              <a:gd name="connsiteY1" fmla="*/ 2404151 h 4088666"/>
              <a:gd name="connsiteX2" fmla="*/ 2404151 w 4808302"/>
              <a:gd name="connsiteY2" fmla="*/ 0 h 4088666"/>
              <a:gd name="connsiteX3" fmla="*/ 4808302 w 4808302"/>
              <a:gd name="connsiteY3" fmla="*/ 2404151 h 4088666"/>
              <a:gd name="connsiteX4" fmla="*/ 4700216 w 4808302"/>
              <a:gd name="connsiteY4" fmla="*/ 3119072 h 4088666"/>
              <a:gd name="connsiteX5" fmla="*/ 4643143 w 4808302"/>
              <a:gd name="connsiteY5" fmla="*/ 3275009 h 4088666"/>
              <a:gd name="connsiteX6" fmla="*/ 690093 w 4808302"/>
              <a:gd name="connsiteY6" fmla="*/ 4088666 h 4088666"/>
              <a:gd name="connsiteX7" fmla="*/ 548991 w 4808302"/>
              <a:gd name="connsiteY7" fmla="*/ 3933414 h 4088666"/>
              <a:gd name="connsiteX8" fmla="*/ 48844 w 4808302"/>
              <a:gd name="connsiteY8" fmla="*/ 2888671 h 40886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808302" h="4088666">
                <a:moveTo>
                  <a:pt x="48844" y="2888671"/>
                </a:moveTo>
                <a:cubicBezTo>
                  <a:pt x="16818" y="2732167"/>
                  <a:pt x="0" y="2570123"/>
                  <a:pt x="0" y="2404151"/>
                </a:cubicBezTo>
                <a:cubicBezTo>
                  <a:pt x="0" y="1076375"/>
                  <a:pt x="1076375" y="0"/>
                  <a:pt x="2404151" y="0"/>
                </a:cubicBezTo>
                <a:cubicBezTo>
                  <a:pt x="3731927" y="0"/>
                  <a:pt x="4808302" y="1076375"/>
                  <a:pt x="4808302" y="2404151"/>
                </a:cubicBezTo>
                <a:cubicBezTo>
                  <a:pt x="4808302" y="2653109"/>
                  <a:pt x="4770461" y="2893229"/>
                  <a:pt x="4700216" y="3119072"/>
                </a:cubicBezTo>
                <a:lnTo>
                  <a:pt x="4643143" y="3275009"/>
                </a:lnTo>
                <a:lnTo>
                  <a:pt x="690093" y="4088666"/>
                </a:lnTo>
                <a:lnTo>
                  <a:pt x="548991" y="3933414"/>
                </a:lnTo>
                <a:cubicBezTo>
                  <a:pt x="304015" y="3636572"/>
                  <a:pt x="128908" y="3279932"/>
                  <a:pt x="48844" y="2888671"/>
                </a:cubicBezTo>
                <a:close/>
              </a:path>
            </a:pathLst>
          </a:custGeom>
          <a:gradFill>
            <a:gsLst>
              <a:gs pos="39000">
                <a:schemeClr val="accent1">
                  <a:lumMod val="60000"/>
                  <a:lumOff val="40000"/>
                  <a:alpha val="0"/>
                </a:schemeClr>
              </a:gs>
              <a:gs pos="100000">
                <a:schemeClr val="accent1">
                  <a:lumMod val="75000"/>
                  <a:alpha val="26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B4DEBB4-23C8-0AFB-0FF5-39FBB84A46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041" y="2767106"/>
            <a:ext cx="2880828" cy="3071906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3600" dirty="0">
                <a:solidFill>
                  <a:srgbClr val="FFFFFF"/>
                </a:solidFill>
              </a:rPr>
              <a:t>P</a:t>
            </a:r>
            <a:r>
              <a:rPr lang="en-US" sz="36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arking not related questions example</a:t>
            </a:r>
          </a:p>
        </p:txBody>
      </p:sp>
      <p:pic>
        <p:nvPicPr>
          <p:cNvPr id="5" name="Content Placeholder 4" descr="A screenshot of a chat&#10;&#10;AI-generated content may be incorrect.">
            <a:extLst>
              <a:ext uri="{FF2B5EF4-FFF2-40B4-BE49-F238E27FC236}">
                <a16:creationId xmlns:a16="http://schemas.microsoft.com/office/drawing/2014/main" id="{E5AE58D4-721D-4483-8217-53A4E708E26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81341" y="467208"/>
            <a:ext cx="6867922" cy="59235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111262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199E1B1-A8C0-4FE8-A5A8-1CB41D69F8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84A8DE83-DE75-4B41-9DB4-A7EC0B0DEC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8128856" cy="1575461"/>
          </a:xfrm>
          <a:prstGeom prst="rect">
            <a:avLst/>
          </a:prstGeom>
          <a:gradFill>
            <a:gsLst>
              <a:gs pos="0">
                <a:schemeClr val="accent1">
                  <a:alpha val="41000"/>
                </a:schemeClr>
              </a:gs>
              <a:gs pos="74000">
                <a:schemeClr val="accent1">
                  <a:lumMod val="60000"/>
                  <a:lumOff val="40000"/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A7009A0A-BEF5-4EAC-AF15-E4F9F002E2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" y="-1"/>
            <a:ext cx="12192002" cy="1574311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78000">
                <a:schemeClr val="accent1">
                  <a:alpha val="15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3B86008-59F1-D433-9F2C-5E8EEE0A5D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713" y="248038"/>
            <a:ext cx="7063721" cy="115920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36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Admin confirmation request - start</a:t>
            </a:r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ADE09FB1-4F17-D42A-08F2-5947DC3D463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2225" y="2309168"/>
            <a:ext cx="11327549" cy="37664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187956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1199E1B1-A8C0-4FE8-A5A8-1CB41D69F8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4A8DE83-DE75-4B41-9DB4-A7EC0B0DEC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8128856" cy="1575461"/>
          </a:xfrm>
          <a:prstGeom prst="rect">
            <a:avLst/>
          </a:prstGeom>
          <a:gradFill>
            <a:gsLst>
              <a:gs pos="0">
                <a:schemeClr val="accent1">
                  <a:alpha val="41000"/>
                </a:schemeClr>
              </a:gs>
              <a:gs pos="74000">
                <a:schemeClr val="accent1">
                  <a:lumMod val="60000"/>
                  <a:lumOff val="40000"/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A7009A0A-BEF5-4EAC-AF15-E4F9F002E2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" y="-1"/>
            <a:ext cx="12192002" cy="1574311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78000">
                <a:schemeClr val="accent1">
                  <a:alpha val="15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E118D9E-1753-DC5D-2D04-0B9359E5F8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713" y="248038"/>
            <a:ext cx="7063721" cy="115920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36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Admin received request </a:t>
            </a:r>
            <a:r>
              <a:rPr lang="en-US" sz="3600" dirty="0">
                <a:solidFill>
                  <a:srgbClr val="FFFFFF"/>
                </a:solidFill>
              </a:rPr>
              <a:t>-</a:t>
            </a:r>
            <a:r>
              <a:rPr lang="en-US" sz="36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 refused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14FF6A7F-CBF9-5165-ECA0-686FA524803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2225" y="3272009"/>
            <a:ext cx="11327549" cy="18407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72115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1199E1B1-A8C0-4FE8-A5A8-1CB41D69F8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4A8DE83-DE75-4B41-9DB4-A7EC0B0DEC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8128856" cy="1575461"/>
          </a:xfrm>
          <a:prstGeom prst="rect">
            <a:avLst/>
          </a:prstGeom>
          <a:gradFill>
            <a:gsLst>
              <a:gs pos="0">
                <a:schemeClr val="accent1">
                  <a:alpha val="41000"/>
                </a:schemeClr>
              </a:gs>
              <a:gs pos="74000">
                <a:schemeClr val="accent1">
                  <a:lumMod val="60000"/>
                  <a:lumOff val="40000"/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A7009A0A-BEF5-4EAC-AF15-E4F9F002E2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" y="-1"/>
            <a:ext cx="12192002" cy="1574311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78000">
                <a:schemeClr val="accent1">
                  <a:alpha val="15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CCA7BF4-A46B-64EA-698C-F1A666065D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713" y="248038"/>
            <a:ext cx="7915967" cy="115920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36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Admin confirmation - refused request end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8652FC73-8437-C260-2CAD-860B8A72859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2225" y="2068458"/>
            <a:ext cx="11327549" cy="42478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962285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1199E1B1-A8C0-4FE8-A5A8-1CB41D69F8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4A8DE83-DE75-4B41-9DB4-A7EC0B0DEC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8128856" cy="1575461"/>
          </a:xfrm>
          <a:prstGeom prst="rect">
            <a:avLst/>
          </a:prstGeom>
          <a:gradFill>
            <a:gsLst>
              <a:gs pos="0">
                <a:schemeClr val="accent1">
                  <a:alpha val="41000"/>
                </a:schemeClr>
              </a:gs>
              <a:gs pos="74000">
                <a:schemeClr val="accent1">
                  <a:lumMod val="60000"/>
                  <a:lumOff val="40000"/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A7009A0A-BEF5-4EAC-AF15-E4F9F002E2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" y="-1"/>
            <a:ext cx="12192002" cy="1574311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78000">
                <a:schemeClr val="accent1">
                  <a:alpha val="15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2B18719-70EF-2E2A-714C-480E419DF9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713" y="248038"/>
            <a:ext cx="7063721" cy="115920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36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Admin received request </a:t>
            </a:r>
            <a:r>
              <a:rPr lang="en-US" sz="3600" dirty="0">
                <a:solidFill>
                  <a:srgbClr val="FFFFFF"/>
                </a:solidFill>
              </a:rPr>
              <a:t>-</a:t>
            </a:r>
            <a:r>
              <a:rPr lang="en-US" sz="36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 confirm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11F8D7AE-FBC3-2FC8-A62D-523AFD28387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2225" y="3257849"/>
            <a:ext cx="11327549" cy="18690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312774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1199E1B1-A8C0-4FE8-A5A8-1CB41D69F8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4A8DE83-DE75-4B41-9DB4-A7EC0B0DEC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8128856" cy="1575461"/>
          </a:xfrm>
          <a:prstGeom prst="rect">
            <a:avLst/>
          </a:prstGeom>
          <a:gradFill>
            <a:gsLst>
              <a:gs pos="0">
                <a:schemeClr val="accent1">
                  <a:alpha val="41000"/>
                </a:schemeClr>
              </a:gs>
              <a:gs pos="74000">
                <a:schemeClr val="accent1">
                  <a:lumMod val="60000"/>
                  <a:lumOff val="40000"/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A7009A0A-BEF5-4EAC-AF15-E4F9F002E2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" y="-1"/>
            <a:ext cx="12192002" cy="1574311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78000">
                <a:schemeClr val="accent1">
                  <a:alpha val="15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BAE6BB2-8457-62B7-381D-D1519B2C3D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713" y="248038"/>
            <a:ext cx="9033567" cy="115920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36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Admin confirmation - confirmed request end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EBC808FE-2F36-0D20-BBE5-E6C208B5642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0353" y="1966293"/>
            <a:ext cx="11271293" cy="44521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100692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8" name="Rectangle 17">
            <a:extLst>
              <a:ext uri="{FF2B5EF4-FFF2-40B4-BE49-F238E27FC236}">
                <a16:creationId xmlns:a16="http://schemas.microsoft.com/office/drawing/2014/main" id="{9CB95732-565A-4D2C-A3AB-CC460C0D38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77F1AF47-AE98-4034-BD91-1976FA4D9C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7539" y="1417538"/>
            <a:ext cx="6875818" cy="4040744"/>
          </a:xfrm>
          <a:prstGeom prst="rect">
            <a:avLst/>
          </a:prstGeom>
          <a:gradFill>
            <a:gsLst>
              <a:gs pos="11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8EC0EE2B-2029-48DD-893D-F528E651B07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57200" y="8482"/>
            <a:ext cx="3568276" cy="6858000"/>
          </a:xfrm>
          <a:prstGeom prst="rect">
            <a:avLst/>
          </a:prstGeom>
          <a:gradFill>
            <a:gsLst>
              <a:gs pos="0">
                <a:schemeClr val="accent1">
                  <a:alpha val="32000"/>
                </a:schemeClr>
              </a:gs>
              <a:gs pos="70000">
                <a:srgbClr val="000000">
                  <a:alpha val="0"/>
                </a:srgb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45AE1D08-1ED1-4F59-B42F-4D8EA33DC8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-747355" y="1201312"/>
            <a:ext cx="4808302" cy="4088666"/>
          </a:xfrm>
          <a:custGeom>
            <a:avLst/>
            <a:gdLst>
              <a:gd name="connsiteX0" fmla="*/ 48844 w 4808302"/>
              <a:gd name="connsiteY0" fmla="*/ 2888671 h 4088666"/>
              <a:gd name="connsiteX1" fmla="*/ 0 w 4808302"/>
              <a:gd name="connsiteY1" fmla="*/ 2404151 h 4088666"/>
              <a:gd name="connsiteX2" fmla="*/ 2404151 w 4808302"/>
              <a:gd name="connsiteY2" fmla="*/ 0 h 4088666"/>
              <a:gd name="connsiteX3" fmla="*/ 4808302 w 4808302"/>
              <a:gd name="connsiteY3" fmla="*/ 2404151 h 4088666"/>
              <a:gd name="connsiteX4" fmla="*/ 4700216 w 4808302"/>
              <a:gd name="connsiteY4" fmla="*/ 3119072 h 4088666"/>
              <a:gd name="connsiteX5" fmla="*/ 4643143 w 4808302"/>
              <a:gd name="connsiteY5" fmla="*/ 3275009 h 4088666"/>
              <a:gd name="connsiteX6" fmla="*/ 690093 w 4808302"/>
              <a:gd name="connsiteY6" fmla="*/ 4088666 h 4088666"/>
              <a:gd name="connsiteX7" fmla="*/ 548991 w 4808302"/>
              <a:gd name="connsiteY7" fmla="*/ 3933414 h 4088666"/>
              <a:gd name="connsiteX8" fmla="*/ 48844 w 4808302"/>
              <a:gd name="connsiteY8" fmla="*/ 2888671 h 40886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808302" h="4088666">
                <a:moveTo>
                  <a:pt x="48844" y="2888671"/>
                </a:moveTo>
                <a:cubicBezTo>
                  <a:pt x="16818" y="2732167"/>
                  <a:pt x="0" y="2570123"/>
                  <a:pt x="0" y="2404151"/>
                </a:cubicBezTo>
                <a:cubicBezTo>
                  <a:pt x="0" y="1076375"/>
                  <a:pt x="1076375" y="0"/>
                  <a:pt x="2404151" y="0"/>
                </a:cubicBezTo>
                <a:cubicBezTo>
                  <a:pt x="3731927" y="0"/>
                  <a:pt x="4808302" y="1076375"/>
                  <a:pt x="4808302" y="2404151"/>
                </a:cubicBezTo>
                <a:cubicBezTo>
                  <a:pt x="4808302" y="2653109"/>
                  <a:pt x="4770461" y="2893229"/>
                  <a:pt x="4700216" y="3119072"/>
                </a:cubicBezTo>
                <a:lnTo>
                  <a:pt x="4643143" y="3275009"/>
                </a:lnTo>
                <a:lnTo>
                  <a:pt x="690093" y="4088666"/>
                </a:lnTo>
                <a:lnTo>
                  <a:pt x="548991" y="3933414"/>
                </a:lnTo>
                <a:cubicBezTo>
                  <a:pt x="304015" y="3636572"/>
                  <a:pt x="128908" y="3279932"/>
                  <a:pt x="48844" y="2888671"/>
                </a:cubicBezTo>
                <a:close/>
              </a:path>
            </a:pathLst>
          </a:custGeom>
          <a:gradFill>
            <a:gsLst>
              <a:gs pos="39000">
                <a:schemeClr val="accent1">
                  <a:lumMod val="60000"/>
                  <a:lumOff val="40000"/>
                  <a:alpha val="0"/>
                </a:schemeClr>
              </a:gs>
              <a:gs pos="100000">
                <a:schemeClr val="accent1">
                  <a:lumMod val="75000"/>
                  <a:alpha val="26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9A79B912-88EA-4640-BDEB-51B3B11A02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159565" y="2659404"/>
            <a:ext cx="4355594" cy="4040742"/>
          </a:xfrm>
          <a:prstGeom prst="rect">
            <a:avLst/>
          </a:prstGeom>
          <a:gradFill>
            <a:gsLst>
              <a:gs pos="0">
                <a:schemeClr val="accent1">
                  <a:alpha val="24000"/>
                </a:schemeClr>
              </a:gs>
              <a:gs pos="100000">
                <a:schemeClr val="accent1">
                  <a:lumMod val="50000"/>
                  <a:alpha val="0"/>
                </a:scheme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5B59D8B-FBC4-7EBD-B255-FE7A4A3B5D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2180" y="2862471"/>
            <a:ext cx="3041803" cy="2907802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3600" dirty="0">
                <a:solidFill>
                  <a:srgbClr val="FFFFFF"/>
                </a:solidFill>
              </a:rPr>
              <a:t>Saved data into SQL DB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2E947DB-AAC7-3CCE-0D3F-824FF4199C0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07598" y="478713"/>
            <a:ext cx="3281019" cy="2695123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FF9C3A91-3343-0ED6-8D81-4550DA85F6D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57251" y="541535"/>
            <a:ext cx="3419533" cy="1658473"/>
          </a:xfrm>
          <a:prstGeom prst="rect">
            <a:avLst/>
          </a:prstGeom>
        </p:spPr>
      </p:pic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7E822C6B-AEBA-7DDA-F30C-D94F358DE50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91116" y="3429000"/>
            <a:ext cx="6732271" cy="28874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431518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199E1B1-A8C0-4FE8-A5A8-1CB41D69F8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4A8DE83-DE75-4B41-9DB4-A7EC0B0DEC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8128856" cy="1575461"/>
          </a:xfrm>
          <a:prstGeom prst="rect">
            <a:avLst/>
          </a:prstGeom>
          <a:gradFill>
            <a:gsLst>
              <a:gs pos="0">
                <a:schemeClr val="accent1">
                  <a:alpha val="41000"/>
                </a:schemeClr>
              </a:gs>
              <a:gs pos="74000">
                <a:schemeClr val="accent1">
                  <a:lumMod val="60000"/>
                  <a:lumOff val="40000"/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7009A0A-BEF5-4EAC-AF15-E4F9F002E2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" y="-1"/>
            <a:ext cx="12192002" cy="1574311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78000">
                <a:schemeClr val="accent1">
                  <a:alpha val="15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94013C4-22C7-EF2B-D0A9-3256BF14AE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713" y="248038"/>
            <a:ext cx="9064047" cy="115920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36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Save reservation data</a:t>
            </a:r>
            <a:r>
              <a:rPr lang="en-US" sz="3600" dirty="0">
                <a:solidFill>
                  <a:srgbClr val="FFFFFF"/>
                </a:solidFill>
              </a:rPr>
              <a:t> via MCP server</a:t>
            </a:r>
            <a:r>
              <a:rPr lang="en-US" sz="36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 into file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B3D28ADC-01BD-CF21-2D8F-9D60995E37A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2225" y="3272009"/>
            <a:ext cx="11327549" cy="18407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015895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B15ED52-F352-441B-82BF-E0EA34836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B2E3793-BFE6-45A2-9B7B-E18844431C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C4C4868-CB8F-4AF9-9CDB-8108F2C19B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75E0459-6403-40CD-989D-56A4407CA1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3E5B1A8-3AC9-4BD1-9BBC-78CA94F2D1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DB9F471-FA9F-6CB2-A998-C8F513FAC3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>
            <a:normAutofit/>
          </a:bodyPr>
          <a:lstStyle/>
          <a:p>
            <a:r>
              <a:rPr lang="en-US" sz="3600" dirty="0">
                <a:solidFill>
                  <a:srgbClr val="FFFFFF"/>
                </a:solidFill>
              </a:rPr>
              <a:t>Future improvements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B56796-998E-419E-55AD-E2846A0B39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599" y="2252134"/>
            <a:ext cx="9724031" cy="3945466"/>
          </a:xfrm>
        </p:spPr>
        <p:txBody>
          <a:bodyPr anchor="ctr">
            <a:normAutofit lnSpcReduction="10000"/>
          </a:bodyPr>
          <a:lstStyle/>
          <a:p>
            <a:r>
              <a:rPr lang="en-US" sz="2000" dirty="0"/>
              <a:t>Move to asynchronous calls.</a:t>
            </a:r>
          </a:p>
          <a:p>
            <a:r>
              <a:rPr lang="en-US" sz="2000" dirty="0"/>
              <a:t>Add streaming.</a:t>
            </a:r>
          </a:p>
          <a:p>
            <a:r>
              <a:rPr lang="en-US" sz="2000" dirty="0"/>
              <a:t>Move to production DB(PostgreSQL etc.).</a:t>
            </a:r>
          </a:p>
          <a:p>
            <a:r>
              <a:rPr lang="en-US" sz="2000" dirty="0"/>
              <a:t>Add monitoring(</a:t>
            </a:r>
            <a:r>
              <a:rPr lang="en-US" sz="2000" dirty="0" err="1"/>
              <a:t>LangSmith</a:t>
            </a:r>
            <a:r>
              <a:rPr lang="en-US" sz="2000" dirty="0"/>
              <a:t> etc.).</a:t>
            </a:r>
          </a:p>
          <a:p>
            <a:r>
              <a:rPr lang="en-US" sz="2000" dirty="0"/>
              <a:t>Add logging.</a:t>
            </a:r>
          </a:p>
          <a:p>
            <a:r>
              <a:rPr lang="en-US" sz="2000" dirty="0"/>
              <a:t>Performance optimization.</a:t>
            </a:r>
          </a:p>
          <a:p>
            <a:r>
              <a:rPr lang="en-US" sz="2000" dirty="0"/>
              <a:t>Prompt optimization.</a:t>
            </a:r>
          </a:p>
          <a:p>
            <a:r>
              <a:rPr lang="en-US" sz="2000" dirty="0"/>
              <a:t>RAG optimization.</a:t>
            </a:r>
          </a:p>
          <a:p>
            <a:r>
              <a:rPr lang="en-US" sz="2000" dirty="0"/>
              <a:t>LLM interaction &amp; Tool calling optimization.</a:t>
            </a:r>
            <a:endParaRPr lang="uk-UA" sz="2000" dirty="0"/>
          </a:p>
          <a:p>
            <a:r>
              <a:rPr lang="en-US" sz="2000" dirty="0"/>
              <a:t>Deploy to cloud.</a:t>
            </a:r>
          </a:p>
        </p:txBody>
      </p:sp>
    </p:spTree>
    <p:extLst>
      <p:ext uri="{BB962C8B-B14F-4D97-AF65-F5344CB8AC3E}">
        <p14:creationId xmlns:p14="http://schemas.microsoft.com/office/powerpoint/2010/main" val="276742029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5" name="Rectangle 24">
            <a:extLst>
              <a:ext uri="{FF2B5EF4-FFF2-40B4-BE49-F238E27FC236}">
                <a16:creationId xmlns:a16="http://schemas.microsoft.com/office/drawing/2014/main" id="{0E30439A-8A5B-46EC-8283-9B6B031D40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5CEAD642-85CF-4750-8432-7C80C901F0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427"/>
            <a:ext cx="12192001" cy="6858000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5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FA33EEAE-15D5-4119-8C1E-89D943F911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455521" y="-1720"/>
            <a:ext cx="11750040" cy="6840685"/>
          </a:xfrm>
          <a:prstGeom prst="rect">
            <a:avLst/>
          </a:prstGeom>
          <a:gradFill>
            <a:gsLst>
              <a:gs pos="21000">
                <a:schemeClr val="accent1">
                  <a:lumMod val="50000"/>
                  <a:alpha val="61000"/>
                </a:schemeClr>
              </a:gs>
              <a:gs pos="100000">
                <a:schemeClr val="accent1">
                  <a:alpha val="0"/>
                </a:schemeClr>
              </a:gs>
            </a:gsLst>
            <a:lin ang="21594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730D8B3B-9B80-4025-B934-26DC7D7CD2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606054" y="-1291"/>
            <a:ext cx="3608179" cy="6858864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0"/>
                </a:schemeClr>
              </a:gs>
              <a:gs pos="99000">
                <a:srgbClr val="000000">
                  <a:alpha val="41000"/>
                </a:srgbClr>
              </a:gs>
            </a:gsLst>
            <a:lin ang="16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B5A1B09C-1565-46F8-B70F-621C5EB48A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5274173">
            <a:off x="6059728" y="779270"/>
            <a:ext cx="4967533" cy="4988390"/>
          </a:xfrm>
          <a:prstGeom prst="ellipse">
            <a:avLst/>
          </a:prstGeom>
          <a:gradFill>
            <a:gsLst>
              <a:gs pos="0">
                <a:schemeClr val="accent1">
                  <a:alpha val="24000"/>
                </a:schemeClr>
              </a:gs>
              <a:gs pos="79000">
                <a:schemeClr val="accent1">
                  <a:lumMod val="60000"/>
                  <a:lumOff val="40000"/>
                  <a:alpha val="0"/>
                </a:schemeClr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E084D0D-EA7A-863C-08E9-916C3AC4BF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89592" y="215173"/>
            <a:ext cx="8133055" cy="3255176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r"/>
            <a:r>
              <a:rPr lang="en-US" sz="48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Thank you for your attention!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8C516CC8-80AC-446C-A56E-9F54B72104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6314" y="4480038"/>
            <a:ext cx="12179371" cy="2377962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50000"/>
                </a:schemeClr>
              </a:gs>
              <a:gs pos="99000">
                <a:srgbClr val="000000">
                  <a:alpha val="34000"/>
                </a:srgb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53947E58-F088-49F1-A3D1-DEA690192E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6967085" y="1632660"/>
            <a:ext cx="6857572" cy="3592258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50000"/>
                </a:schemeClr>
              </a:gs>
              <a:gs pos="99000">
                <a:srgbClr val="000000">
                  <a:alpha val="0"/>
                </a:srgb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65329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wd">
                                    <p:tmPct val="15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330</TotalTime>
  <Words>227</Words>
  <Application>Microsoft Office PowerPoint</Application>
  <PresentationFormat>Widescreen</PresentationFormat>
  <Paragraphs>53</Paragraphs>
  <Slides>19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3" baseType="lpstr">
      <vt:lpstr>Aptos</vt:lpstr>
      <vt:lpstr>Aptos Display</vt:lpstr>
      <vt:lpstr>Arial</vt:lpstr>
      <vt:lpstr>Office Theme</vt:lpstr>
      <vt:lpstr>AI-Parking-Assistant</vt:lpstr>
      <vt:lpstr>Project Structure</vt:lpstr>
      <vt:lpstr>Classes architecture example </vt:lpstr>
      <vt:lpstr>Simple guard rails example before final response </vt:lpstr>
      <vt:lpstr>Vector DB static data</vt:lpstr>
      <vt:lpstr>Static data in Pinecone DB</vt:lpstr>
      <vt:lpstr>SQL DB Dynamic data</vt:lpstr>
      <vt:lpstr>Orchestration workflow graph</vt:lpstr>
      <vt:lpstr>General Conversation example</vt:lpstr>
      <vt:lpstr>Parking not related questions example</vt:lpstr>
      <vt:lpstr>Admin confirmation request - start</vt:lpstr>
      <vt:lpstr>Admin received request - refused</vt:lpstr>
      <vt:lpstr>Admin confirmation - refused request end</vt:lpstr>
      <vt:lpstr>Admin received request - confirm</vt:lpstr>
      <vt:lpstr>Admin confirmation - confirmed request end</vt:lpstr>
      <vt:lpstr>Saved data into SQL DB</vt:lpstr>
      <vt:lpstr>Save reservation data via MCP server into file</vt:lpstr>
      <vt:lpstr>Future improvements</vt:lpstr>
      <vt:lpstr>Thank you for your attention!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Pavlo Tsaritsyn</dc:creator>
  <cp:lastModifiedBy>Pavlo Tsaritsyn</cp:lastModifiedBy>
  <cp:revision>6</cp:revision>
  <dcterms:created xsi:type="dcterms:W3CDTF">2026-03-05T07:03:56Z</dcterms:created>
  <dcterms:modified xsi:type="dcterms:W3CDTF">2026-03-05T13:06:04Z</dcterms:modified>
</cp:coreProperties>
</file>